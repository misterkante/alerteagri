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plotArea>
      <c:barChart>
        <c:barDir val="bar"/>
        <c:grouping val="clustered"/>
        <c:ser>
          <c:idx val="0"/>
          <c:order val="0"/>
          <c:tx>
            <c:strRef>
              <c:f>Sheet1!$B$1</c:f>
              <c:strCache>
                <c:ptCount val="1"/>
                <c:pt idx="0">
                  <c:v>Production 2024-2025</c:v>
                </c:pt>
              </c:strCache>
            </c:strRef>
          </c:tx>
          <c:spPr>
            <a:solidFill>
              <a:srgbClr val="007A4A"/>
            </a:solidFill>
          </c:spPr>
          <c:cat>
            <c:strRef>
              <c:f>Sheet1!$A$2:$A$3</c:f>
              <c:strCache>
                <c:ptCount val="2"/>
                <c:pt idx="0">
                  <c:v>Soja</c:v>
                </c:pt>
                <c:pt idx="1">
                  <c:v>Noix de cajou</c:v>
                </c:pt>
              </c:strCache>
            </c:strRef>
          </c:cat>
          <c:val>
            <c:numRef>
              <c:f>Sheet1!$B$2:$B$3</c:f>
              <c:numCache>
                <c:formatCode>General</c:formatCode>
                <c:ptCount val="2"/>
                <c:pt idx="0">
                  <c:v>652000</c:v>
                </c:pt>
                <c:pt idx="1">
                  <c:v>212000</c:v>
                </c:pt>
              </c:numCache>
            </c:numRef>
          </c:val>
        </c:ser>
        <c:ser>
          <c:idx val="1"/>
          <c:order val="1"/>
          <c:tx>
            <c:strRef>
              <c:f>Sheet1!$C$1</c:f>
              <c:strCache>
                <c:ptCount val="1"/>
                <c:pt idx="0">
                  <c:v>Capacité de transformation GDIZ</c:v>
                </c:pt>
              </c:strCache>
            </c:strRef>
          </c:tx>
          <c:spPr>
            <a:solidFill>
              <a:srgbClr val="E0A100"/>
            </a:solidFill>
          </c:spPr>
          <c:cat>
            <c:strRef>
              <c:f>Sheet1!$A$2:$A$3</c:f>
              <c:strCache>
                <c:ptCount val="2"/>
                <c:pt idx="0">
                  <c:v>Soja</c:v>
                </c:pt>
                <c:pt idx="1">
                  <c:v>Noix de cajou</c:v>
                </c:pt>
              </c:strCache>
            </c:strRef>
          </c:cat>
          <c:val>
            <c:numRef>
              <c:f>Sheet1!$C$2:$C$3</c:f>
              <c:numCache>
                <c:formatCode>General</c:formatCode>
                <c:ptCount val="2"/>
                <c:pt idx="0">
                  <c:v>260000</c:v>
                </c:pt>
                <c:pt idx="1">
                  <c:v>120000</c:v>
                </c:pt>
              </c:numCache>
            </c:numRef>
          </c:val>
        </c:ser>
        <c:dLbls>
          <c:numFmt formatCode="# ##0" sourceLinked="0"/>
          <c:txPr>
            <a:bodyPr/>
            <a:lstStyle/>
            <a:p>
              <a:pPr>
                <a:defRPr sz="1300">
                  <a:solidFill>
                    <a:srgbClr val="26211A"/>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l"/>
        <c:majorTickMark val="out"/>
        <c:minorTickMark val="none"/>
        <c:tickLblPos val="nextTo"/>
        <c:spPr>
          <a:ln>
            <a:solidFill>
              <a:srgbClr val="E5E1D5"/>
            </a:solidFill>
          </a:ln>
        </c:spPr>
        <c:txPr>
          <a:bodyPr/>
          <a:lstStyle/>
          <a:p>
            <a:pPr>
              <a:defRPr sz="1400">
                <a:solidFill>
                  <a:srgbClr val="26211A"/>
                </a:solidFill>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legend>
      <c:legendPos val="b"/>
      <c:overlay val="0"/>
      <c:txPr>
        <a:bodyPr/>
        <a:lstStyle/>
        <a:p>
          <a:pPr>
            <a:defRPr sz="1300">
              <a:solidFill>
                <a:srgbClr val="26211A"/>
              </a:solidFill>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Ouvrir sur la promesse : une plateforme utilisable dès demain par un producteur qui ne lit pas. Ce n’est pas une application de plus : c’est l’outil d’une politique déjà annoncée par le gouvernement.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Quatre chiffres, tous sourcés. Insister sur le dernier point : 38,4 % d’alphabétisation, c’est pour cela que tout le produit fonctionne sans lire.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droite, le conseil de semis réel à Bohicon : SEMEZ, calculé sur la pluie réellement tombée et la prévision, avec le critère agronomique de Sivakumar. Montrer que le critère regarde 30 jours et que la plateforme dit honnêtement qu’elle n’en voit que 16.</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Message clé : interopérer, ne pas dupliquer. Chaque donnée a déjà un propriétaire public ; AlerteAgri les consomme (via X-Road à terme) et ajoute ce qui manque : la boucle d’alerte jusqu’au producteur et la donnée de terrain.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Rester factuel, sans commentaire politique. Le ministère de la Transformation Digitale porte aussi la stratégie nationale d’IA : le bon message est « la donnée d’abord, l’IA là où elle est prouvée ».</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menu USSD est le vrai contrôleur, qui parle le protocole des agrégateurs ; seul le code court opérateur est simulé pour la démo. En production : agrégateur local ou MADAPI de MTN, code attribué par l’ARCEP.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l’exigence « monitoring de bout en bout » de la fiche. Montrer en démo : trois signalements validés, alerte vers Parakou, Tchaourou et N’Dali, lecture, action, clôture.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quatre points se différencient des autres candidats : ils répondent à des problèmes documentés du terrain béninois, pas à une liste de fonctionnalités.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Seul graphique chiffré : il montre pourquoi la donnée de terrain vaut de l’argent pour l’État. Préciser que le coton est exclu parce que les unités diffèrent : c’est un choix d’honnêteté.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barème TDL de la démo est fictif (il est fixé par chaque conseil communal) ; c’est affiché dans l’interface. La mécanique de signature et de rapprochement, elle, est réelle et testée.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Méthode : tests écrits avant le code, preuve du rouge, test de mutation, contrôle anti-triche des tests, documentation vérifiée par script. C’est ce qui permet de livrer vite sans livrer fragile.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 promettre aucun gain de rendement chiffré avant le pilote : c’est lui qui le mesurera. La recherche (méta-analyse publiée dans Science, 2019) donne l’ordre de grandeur : +4 % de rendement et +22 % d’adoption des intrants recommandés grâce au conseil par téléphone.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Enchaîner sur la démonstration (docs/DEMO.md). Adresse en ligne : https://alerteagri.vercel.app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7A4A"/>
        </a:solidFill>
        <a:effectLst/>
      </p:bgPr>
    </p:bg>
    <p:spTree>
      <p:nvGrpSpPr>
        <p:cNvPr id="1" name=""/>
        <p:cNvGrpSpPr/>
        <p:nvPr/>
      </p:nvGrpSpPr>
      <p:grpSpPr/>
      <p:sp>
        <p:nvSpPr>
          <p:cNvPr id="2" name="TextBox 1"/>
          <p:cNvSpPr txBox="1"/>
          <p:nvPr/>
        </p:nvSpPr>
        <p:spPr>
          <a:xfrm>
            <a:off x="731520" y="731520"/>
            <a:ext cx="7315200" cy="365760"/>
          </a:xfrm>
          <a:prstGeom prst="rect">
            <a:avLst/>
          </a:prstGeom>
          <a:noFill/>
        </p:spPr>
        <p:txBody>
          <a:bodyPr wrap="square" lIns="0" rIns="0" tIns="0" bIns="0" anchor="t">
            <a:spAutoFit/>
          </a:bodyPr>
          <a:lstStyle/>
          <a:p>
            <a:pPr algn="l"/>
            <a:r>
              <a:rPr sz="1400" b="1" i="0">
                <a:solidFill>
                  <a:srgbClr val="E0F3E9"/>
                </a:solidFill>
                <a:latin typeface="Calibri"/>
              </a:rPr>
              <a:t>CHALLENGE AGRICULTURE INTELLIGENTE · BÉNIN 2026</a:t>
            </a:r>
          </a:p>
        </p:txBody>
      </p:sp>
      <p:sp>
        <p:nvSpPr>
          <p:cNvPr id="3" name="TextBox 2"/>
          <p:cNvSpPr txBox="1"/>
          <p:nvPr/>
        </p:nvSpPr>
        <p:spPr>
          <a:xfrm>
            <a:off x="731520" y="1371600"/>
            <a:ext cx="6949440" cy="1280160"/>
          </a:xfrm>
          <a:prstGeom prst="rect">
            <a:avLst/>
          </a:prstGeom>
          <a:noFill/>
        </p:spPr>
        <p:txBody>
          <a:bodyPr wrap="square" lIns="0" rIns="0" tIns="0" bIns="0" anchor="t">
            <a:spAutoFit/>
          </a:bodyPr>
          <a:lstStyle/>
          <a:p>
            <a:pPr algn="l"/>
            <a:r>
              <a:rPr sz="6600" b="1" i="0">
                <a:solidFill>
                  <a:srgbClr val="FFFFFF"/>
                </a:solidFill>
                <a:latin typeface="Cambria"/>
              </a:rPr>
              <a:t>AlerteAgri</a:t>
            </a:r>
          </a:p>
        </p:txBody>
      </p:sp>
      <p:sp>
        <p:nvSpPr>
          <p:cNvPr id="4" name="TextBox 3"/>
          <p:cNvSpPr txBox="1"/>
          <p:nvPr/>
        </p:nvSpPr>
        <p:spPr>
          <a:xfrm>
            <a:off x="731520" y="2514600"/>
            <a:ext cx="6766560" cy="1097280"/>
          </a:xfrm>
          <a:prstGeom prst="rect">
            <a:avLst/>
          </a:prstGeom>
          <a:noFill/>
        </p:spPr>
        <p:txBody>
          <a:bodyPr wrap="square" lIns="0" rIns="0" tIns="0" bIns="0" anchor="t">
            <a:spAutoFit/>
          </a:bodyPr>
          <a:lstStyle/>
          <a:p>
            <a:pPr algn="l"/>
            <a:r>
              <a:rPr sz="3200" b="0" i="0">
                <a:solidFill>
                  <a:srgbClr val="E0F3E9"/>
                </a:solidFill>
                <a:latin typeface="Cambria"/>
              </a:rPr>
              <a:t>Voir venir, agir à temps.</a:t>
            </a:r>
          </a:p>
        </p:txBody>
      </p:sp>
      <p:sp>
        <p:nvSpPr>
          <p:cNvPr id="5" name="TextBox 4"/>
          <p:cNvSpPr txBox="1"/>
          <p:nvPr/>
        </p:nvSpPr>
        <p:spPr>
          <a:xfrm>
            <a:off x="731520" y="3566160"/>
            <a:ext cx="6309360" cy="1463040"/>
          </a:xfrm>
          <a:prstGeom prst="rect">
            <a:avLst/>
          </a:prstGeom>
          <a:noFill/>
        </p:spPr>
        <p:txBody>
          <a:bodyPr wrap="square" lIns="0" rIns="0" tIns="0" bIns="0" anchor="t">
            <a:spAutoFit/>
          </a:bodyPr>
          <a:lstStyle/>
          <a:p>
            <a:pPr algn="l"/>
            <a:r>
              <a:rPr sz="1800" b="0" i="0">
                <a:solidFill>
                  <a:srgbClr val="FFFFFF"/>
                </a:solidFill>
                <a:latin typeface="Calibri"/>
              </a:rPr>
              <a:t>La couche de service qui relie ce que l’État possède déjà aux 70 % d’actifs du secteur agricole : alerte, conseil, marché, recettes et traçabilité, même sans lire, sans smartphone ni réseau.</a:t>
            </a:r>
          </a:p>
        </p:txBody>
      </p:sp>
      <p:sp>
        <p:nvSpPr>
          <p:cNvPr id="6" name="TextBox 5"/>
          <p:cNvSpPr txBox="1"/>
          <p:nvPr/>
        </p:nvSpPr>
        <p:spPr>
          <a:xfrm>
            <a:off x="731520" y="5852160"/>
            <a:ext cx="6400800" cy="457200"/>
          </a:xfrm>
          <a:prstGeom prst="rect">
            <a:avLst/>
          </a:prstGeom>
          <a:noFill/>
        </p:spPr>
        <p:txBody>
          <a:bodyPr wrap="square" lIns="0" rIns="0" tIns="0" bIns="0" anchor="t">
            <a:spAutoFit/>
          </a:bodyPr>
          <a:lstStyle/>
          <a:p>
            <a:pPr algn="l"/>
            <a:r>
              <a:rPr sz="1300" b="0" i="0">
                <a:solidFill>
                  <a:srgbClr val="E0F3E9"/>
                </a:solidFill>
                <a:latin typeface="Calibri"/>
              </a:rPr>
              <a:t>Gilchrist Kanté · Ministère de la Transformation Digitale et de l’Innovation · 26 septembre 2026</a:t>
            </a:r>
          </a:p>
        </p:txBody>
      </p:sp>
      <p:pic>
        <p:nvPicPr>
          <p:cNvPr id="7" name="Picture 6" descr="home.png"/>
          <p:cNvPicPr>
            <a:picLocks noChangeAspect="1"/>
          </p:cNvPicPr>
          <p:nvPr/>
        </p:nvPicPr>
        <p:blipFill>
          <a:blip r:embed="rId2"/>
          <a:stretch>
            <a:fillRect/>
          </a:stretch>
        </p:blipFill>
        <p:spPr>
          <a:xfrm>
            <a:off x="8412480" y="548640"/>
            <a:ext cx="2661944" cy="5760720"/>
          </a:xfrm>
          <a:prstGeom prst="rect">
            <a:avLst/>
          </a:prstGeom>
          <a:ln w="9525">
            <a:solidFill>
              <a:srgbClr val="E5E1D5"/>
            </a:solidFill>
          </a:ln>
        </p:spPr>
      </p:pic>
      <p:sp>
        <p:nvSpPr>
          <p:cNvPr id="8" name="Rectangle 7"/>
          <p:cNvSpPr/>
          <p:nvPr/>
        </p:nvSpPr>
        <p:spPr>
          <a:xfrm>
            <a:off x="0" y="6711696"/>
            <a:ext cx="12191695" cy="365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748272"/>
            <a:ext cx="4073042" cy="109728"/>
          </a:xfrm>
          <a:prstGeom prst="rect">
            <a:avLst/>
          </a:prstGeom>
          <a:solidFill>
            <a:srgbClr val="0087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063898" y="6748272"/>
            <a:ext cx="4073042" cy="109728"/>
          </a:xfrm>
          <a:prstGeom prst="rect">
            <a:avLst/>
          </a:prstGeom>
          <a:solidFill>
            <a:srgbClr val="FCD1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127796" y="6748272"/>
            <a:ext cx="4073042" cy="109728"/>
          </a:xfrm>
          <a:prstGeom prst="rect">
            <a:avLst/>
          </a:prstGeom>
          <a:solidFill>
            <a:srgbClr val="E811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t">
            <a:spAutoFit/>
          </a:bodyPr>
          <a:lstStyle/>
          <a:p>
            <a:pPr algn="l"/>
            <a:r>
              <a:rPr sz="3400" b="1" i="0">
                <a:solidFill>
                  <a:srgbClr val="26211A"/>
                </a:solidFill>
                <a:latin typeface="Cambria"/>
              </a:rPr>
              <a:t>Un secteur vital, des pertes évitables</a:t>
            </a:r>
          </a:p>
        </p:txBody>
      </p:sp>
      <p:sp>
        <p:nvSpPr>
          <p:cNvPr id="3" name="TextBox 2"/>
          <p:cNvSpPr txBox="1"/>
          <p:nvPr/>
        </p:nvSpPr>
        <p:spPr>
          <a:xfrm>
            <a:off x="548640" y="1097280"/>
            <a:ext cx="11064240" cy="457200"/>
          </a:xfrm>
          <a:prstGeom prst="rect">
            <a:avLst/>
          </a:prstGeom>
          <a:noFill/>
        </p:spPr>
        <p:txBody>
          <a:bodyPr wrap="square" lIns="0" rIns="0" tIns="0" bIns="0" anchor="t">
            <a:spAutoFit/>
          </a:bodyPr>
          <a:lstStyle/>
          <a:p>
            <a:pPr algn="l"/>
            <a:r>
              <a:rPr sz="1600" b="0" i="0">
                <a:solidFill>
                  <a:srgbClr val="665E51"/>
                </a:solidFill>
                <a:latin typeface="Calibri"/>
              </a:rPr>
              <a:t>Ce qui se joue chaque saison</a:t>
            </a:r>
          </a:p>
        </p:txBody>
      </p:sp>
      <p:sp>
        <p:nvSpPr>
          <p:cNvPr id="4" name="Rounded Rectangle 3"/>
          <p:cNvSpPr/>
          <p:nvPr/>
        </p:nvSpPr>
        <p:spPr>
          <a:xfrm>
            <a:off x="548640" y="1828800"/>
            <a:ext cx="2606040" cy="3291840"/>
          </a:xfrm>
          <a:prstGeom prst="roundRect">
            <a:avLst>
              <a:gd name="adj" fmla="val 8000"/>
            </a:avLst>
          </a:prstGeom>
          <a:solidFill>
            <a:srgbClr val="E0F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2148840"/>
            <a:ext cx="2148840" cy="1005840"/>
          </a:xfrm>
          <a:prstGeom prst="rect">
            <a:avLst/>
          </a:prstGeom>
          <a:noFill/>
        </p:spPr>
        <p:txBody>
          <a:bodyPr wrap="square" lIns="0" rIns="0" tIns="0" bIns="0" anchor="t">
            <a:spAutoFit/>
          </a:bodyPr>
          <a:lstStyle/>
          <a:p>
            <a:pPr algn="l"/>
            <a:r>
              <a:rPr sz="3600" b="1" i="0">
                <a:solidFill>
                  <a:srgbClr val="007A4A"/>
                </a:solidFill>
                <a:latin typeface="Cambria"/>
              </a:rPr>
              <a:t>25,4 %</a:t>
            </a:r>
          </a:p>
        </p:txBody>
      </p:sp>
      <p:sp>
        <p:nvSpPr>
          <p:cNvPr id="6" name="TextBox 5"/>
          <p:cNvSpPr txBox="1"/>
          <p:nvPr/>
        </p:nvSpPr>
        <p:spPr>
          <a:xfrm>
            <a:off x="822959" y="3246120"/>
            <a:ext cx="2148840" cy="548640"/>
          </a:xfrm>
          <a:prstGeom prst="rect">
            <a:avLst/>
          </a:prstGeom>
          <a:noFill/>
        </p:spPr>
        <p:txBody>
          <a:bodyPr wrap="square" lIns="0" rIns="0" tIns="0" bIns="0" anchor="t">
            <a:spAutoFit/>
          </a:bodyPr>
          <a:lstStyle/>
          <a:p>
            <a:pPr algn="l"/>
            <a:r>
              <a:rPr sz="1800" b="1" i="0">
                <a:solidFill>
                  <a:srgbClr val="26211A"/>
                </a:solidFill>
                <a:latin typeface="Calibri"/>
              </a:rPr>
              <a:t>du PIB en 2025</a:t>
            </a:r>
          </a:p>
        </p:txBody>
      </p:sp>
      <p:sp>
        <p:nvSpPr>
          <p:cNvPr id="7" name="TextBox 6"/>
          <p:cNvSpPr txBox="1"/>
          <p:nvPr/>
        </p:nvSpPr>
        <p:spPr>
          <a:xfrm>
            <a:off x="822959" y="3840480"/>
            <a:ext cx="2148840" cy="1097280"/>
          </a:xfrm>
          <a:prstGeom prst="rect">
            <a:avLst/>
          </a:prstGeom>
          <a:noFill/>
        </p:spPr>
        <p:txBody>
          <a:bodyPr wrap="square" lIns="0" rIns="0" tIns="0" bIns="0" anchor="t">
            <a:spAutoFit/>
          </a:bodyPr>
          <a:lstStyle/>
          <a:p>
            <a:pPr algn="l"/>
            <a:r>
              <a:rPr sz="1400" b="0" i="0">
                <a:solidFill>
                  <a:srgbClr val="665E51"/>
                </a:solidFill>
                <a:latin typeface="Calibri"/>
              </a:rPr>
              <a:t>et 59,1 % des recettes d’exportation</a:t>
            </a:r>
          </a:p>
        </p:txBody>
      </p:sp>
      <p:sp>
        <p:nvSpPr>
          <p:cNvPr id="8" name="Rounded Rectangle 7"/>
          <p:cNvSpPr/>
          <p:nvPr/>
        </p:nvSpPr>
        <p:spPr>
          <a:xfrm>
            <a:off x="3383280" y="1828800"/>
            <a:ext cx="2606040" cy="3291840"/>
          </a:xfrm>
          <a:prstGeom prst="roundRect">
            <a:avLst>
              <a:gd name="adj" fmla="val 8000"/>
            </a:avLst>
          </a:prstGeom>
          <a:solidFill>
            <a:srgbClr val="E0F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0" y="2148840"/>
            <a:ext cx="2148840" cy="1005840"/>
          </a:xfrm>
          <a:prstGeom prst="rect">
            <a:avLst/>
          </a:prstGeom>
          <a:noFill/>
        </p:spPr>
        <p:txBody>
          <a:bodyPr wrap="square" lIns="0" rIns="0" tIns="0" bIns="0" anchor="t">
            <a:spAutoFit/>
          </a:bodyPr>
          <a:lstStyle/>
          <a:p>
            <a:pPr algn="l"/>
            <a:r>
              <a:rPr sz="3600" b="1" i="0">
                <a:solidFill>
                  <a:srgbClr val="007A4A"/>
                </a:solidFill>
                <a:latin typeface="Cambria"/>
              </a:rPr>
              <a:t>70 %</a:t>
            </a:r>
          </a:p>
        </p:txBody>
      </p:sp>
      <p:sp>
        <p:nvSpPr>
          <p:cNvPr id="10" name="TextBox 9"/>
          <p:cNvSpPr txBox="1"/>
          <p:nvPr/>
        </p:nvSpPr>
        <p:spPr>
          <a:xfrm>
            <a:off x="3657600" y="3246120"/>
            <a:ext cx="2148840" cy="548640"/>
          </a:xfrm>
          <a:prstGeom prst="rect">
            <a:avLst/>
          </a:prstGeom>
          <a:noFill/>
        </p:spPr>
        <p:txBody>
          <a:bodyPr wrap="square" lIns="0" rIns="0" tIns="0" bIns="0" anchor="t">
            <a:spAutoFit/>
          </a:bodyPr>
          <a:lstStyle/>
          <a:p>
            <a:pPr algn="l"/>
            <a:r>
              <a:rPr sz="1800" b="1" i="0">
                <a:solidFill>
                  <a:srgbClr val="26211A"/>
                </a:solidFill>
                <a:latin typeface="Calibri"/>
              </a:rPr>
              <a:t>des actifs</a:t>
            </a:r>
          </a:p>
        </p:txBody>
      </p:sp>
      <p:sp>
        <p:nvSpPr>
          <p:cNvPr id="11" name="TextBox 10"/>
          <p:cNvSpPr txBox="1"/>
          <p:nvPr/>
        </p:nvSpPr>
        <p:spPr>
          <a:xfrm>
            <a:off x="3657600" y="3840480"/>
            <a:ext cx="2148840" cy="1097280"/>
          </a:xfrm>
          <a:prstGeom prst="rect">
            <a:avLst/>
          </a:prstGeom>
          <a:noFill/>
        </p:spPr>
        <p:txBody>
          <a:bodyPr wrap="square" lIns="0" rIns="0" tIns="0" bIns="0" anchor="t">
            <a:spAutoFit/>
          </a:bodyPr>
          <a:lstStyle/>
          <a:p>
            <a:pPr algn="l"/>
            <a:r>
              <a:rPr sz="1400" b="0" i="0">
                <a:solidFill>
                  <a:srgbClr val="665E51"/>
                </a:solidFill>
                <a:latin typeface="Calibri"/>
              </a:rPr>
              <a:t>vivent de l’agriculture</a:t>
            </a:r>
          </a:p>
        </p:txBody>
      </p:sp>
      <p:sp>
        <p:nvSpPr>
          <p:cNvPr id="12" name="Rounded Rectangle 11"/>
          <p:cNvSpPr/>
          <p:nvPr/>
        </p:nvSpPr>
        <p:spPr>
          <a:xfrm>
            <a:off x="6217920" y="1828800"/>
            <a:ext cx="2606040" cy="3291840"/>
          </a:xfrm>
          <a:prstGeom prst="roundRect">
            <a:avLst>
              <a:gd name="adj" fmla="val 8000"/>
            </a:avLst>
          </a:prstGeom>
          <a:solidFill>
            <a:srgbClr val="FD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2148840"/>
            <a:ext cx="2148840" cy="1005840"/>
          </a:xfrm>
          <a:prstGeom prst="rect">
            <a:avLst/>
          </a:prstGeom>
          <a:noFill/>
        </p:spPr>
        <p:txBody>
          <a:bodyPr wrap="square" lIns="0" rIns="0" tIns="0" bIns="0" anchor="t">
            <a:spAutoFit/>
          </a:bodyPr>
          <a:lstStyle/>
          <a:p>
            <a:pPr algn="l"/>
            <a:r>
              <a:rPr sz="3600" b="1" i="0">
                <a:solidFill>
                  <a:srgbClr val="C0262D"/>
                </a:solidFill>
                <a:latin typeface="Cambria"/>
              </a:rPr>
              <a:t>26–60 %</a:t>
            </a:r>
          </a:p>
        </p:txBody>
      </p:sp>
      <p:sp>
        <p:nvSpPr>
          <p:cNvPr id="14" name="TextBox 13"/>
          <p:cNvSpPr txBox="1"/>
          <p:nvPr/>
        </p:nvSpPr>
        <p:spPr>
          <a:xfrm>
            <a:off x="6492240" y="3246120"/>
            <a:ext cx="2148840" cy="548640"/>
          </a:xfrm>
          <a:prstGeom prst="rect">
            <a:avLst/>
          </a:prstGeom>
          <a:noFill/>
        </p:spPr>
        <p:txBody>
          <a:bodyPr wrap="square" lIns="0" rIns="0" tIns="0" bIns="0" anchor="t">
            <a:spAutoFit/>
          </a:bodyPr>
          <a:lstStyle/>
          <a:p>
            <a:pPr algn="l"/>
            <a:r>
              <a:rPr sz="1800" b="1" i="0">
                <a:solidFill>
                  <a:srgbClr val="26211A"/>
                </a:solidFill>
                <a:latin typeface="Calibri"/>
              </a:rPr>
              <a:t>de coton perdu</a:t>
            </a:r>
          </a:p>
        </p:txBody>
      </p:sp>
      <p:sp>
        <p:nvSpPr>
          <p:cNvPr id="15" name="TextBox 14"/>
          <p:cNvSpPr txBox="1"/>
          <p:nvPr/>
        </p:nvSpPr>
        <p:spPr>
          <a:xfrm>
            <a:off x="6492240" y="3840480"/>
            <a:ext cx="2148840" cy="1097280"/>
          </a:xfrm>
          <a:prstGeom prst="rect">
            <a:avLst/>
          </a:prstGeom>
          <a:noFill/>
        </p:spPr>
        <p:txBody>
          <a:bodyPr wrap="square" lIns="0" rIns="0" tIns="0" bIns="0" anchor="t">
            <a:spAutoFit/>
          </a:bodyPr>
          <a:lstStyle/>
          <a:p>
            <a:pPr algn="l"/>
            <a:r>
              <a:rPr sz="1400" b="0" i="0">
                <a:solidFill>
                  <a:srgbClr val="665E51"/>
                </a:solidFill>
                <a:latin typeface="Calibri"/>
              </a:rPr>
              <a:t>lors de l’invasion de jassides de 2022-2023</a:t>
            </a:r>
          </a:p>
        </p:txBody>
      </p:sp>
      <p:sp>
        <p:nvSpPr>
          <p:cNvPr id="16" name="Rounded Rectangle 15"/>
          <p:cNvSpPr/>
          <p:nvPr/>
        </p:nvSpPr>
        <p:spPr>
          <a:xfrm>
            <a:off x="9052560" y="1828800"/>
            <a:ext cx="2606040" cy="3291840"/>
          </a:xfrm>
          <a:prstGeom prst="roundRect">
            <a:avLst>
              <a:gd name="adj" fmla="val 8000"/>
            </a:avLst>
          </a:prstGeom>
          <a:solidFill>
            <a:srgbClr val="FD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0" y="2148840"/>
            <a:ext cx="2148840" cy="1005840"/>
          </a:xfrm>
          <a:prstGeom prst="rect">
            <a:avLst/>
          </a:prstGeom>
          <a:noFill/>
        </p:spPr>
        <p:txBody>
          <a:bodyPr wrap="square" lIns="0" rIns="0" tIns="0" bIns="0" anchor="t">
            <a:spAutoFit/>
          </a:bodyPr>
          <a:lstStyle/>
          <a:p>
            <a:pPr algn="l"/>
            <a:r>
              <a:rPr sz="3600" b="1" i="0">
                <a:solidFill>
                  <a:srgbClr val="C0262D"/>
                </a:solidFill>
                <a:latin typeface="Cambria"/>
              </a:rPr>
              <a:t>8 sur 10</a:t>
            </a:r>
          </a:p>
        </p:txBody>
      </p:sp>
      <p:sp>
        <p:nvSpPr>
          <p:cNvPr id="18" name="TextBox 17"/>
          <p:cNvSpPr txBox="1"/>
          <p:nvPr/>
        </p:nvSpPr>
        <p:spPr>
          <a:xfrm>
            <a:off x="9326880" y="3246120"/>
            <a:ext cx="2148840" cy="548640"/>
          </a:xfrm>
          <a:prstGeom prst="rect">
            <a:avLst/>
          </a:prstGeom>
          <a:noFill/>
        </p:spPr>
        <p:txBody>
          <a:bodyPr wrap="square" lIns="0" rIns="0" tIns="0" bIns="0" anchor="t">
            <a:spAutoFit/>
          </a:bodyPr>
          <a:lstStyle/>
          <a:p>
            <a:pPr algn="l"/>
            <a:r>
              <a:rPr sz="1800" b="1" i="0">
                <a:solidFill>
                  <a:srgbClr val="26211A"/>
                </a:solidFill>
                <a:latin typeface="Calibri"/>
              </a:rPr>
              <a:t>pesticides non homologués</a:t>
            </a:r>
          </a:p>
        </p:txBody>
      </p:sp>
      <p:sp>
        <p:nvSpPr>
          <p:cNvPr id="19" name="TextBox 18"/>
          <p:cNvSpPr txBox="1"/>
          <p:nvPr/>
        </p:nvSpPr>
        <p:spPr>
          <a:xfrm>
            <a:off x="9326880" y="3840480"/>
            <a:ext cx="2148840" cy="1097280"/>
          </a:xfrm>
          <a:prstGeom prst="rect">
            <a:avLst/>
          </a:prstGeom>
          <a:noFill/>
        </p:spPr>
        <p:txBody>
          <a:bodyPr wrap="square" lIns="0" rIns="0" tIns="0" bIns="0" anchor="t">
            <a:spAutoFit/>
          </a:bodyPr>
          <a:lstStyle/>
          <a:p>
            <a:pPr algn="l"/>
            <a:r>
              <a:rPr sz="1400" b="0" i="0">
                <a:solidFill>
                  <a:srgbClr val="665E51"/>
                </a:solidFill>
                <a:latin typeface="Calibri"/>
              </a:rPr>
              <a:t>dans la basse vallée de l’Ouémé</a:t>
            </a:r>
          </a:p>
        </p:txBody>
      </p:sp>
      <p:sp>
        <p:nvSpPr>
          <p:cNvPr id="20" name="TextBox 19"/>
          <p:cNvSpPr txBox="1"/>
          <p:nvPr/>
        </p:nvSpPr>
        <p:spPr>
          <a:xfrm>
            <a:off x="548640" y="5394960"/>
            <a:ext cx="11064240" cy="731520"/>
          </a:xfrm>
          <a:prstGeom prst="rect">
            <a:avLst/>
          </a:prstGeom>
          <a:noFill/>
        </p:spPr>
        <p:txBody>
          <a:bodyPr wrap="square" lIns="0" rIns="0" tIns="0" bIns="0" anchor="t">
            <a:spAutoFit/>
          </a:bodyPr>
          <a:lstStyle/>
          <a:p>
            <a:pPr algn="l"/>
            <a:r>
              <a:rPr sz="1600" b="1" i="0">
                <a:solidFill>
                  <a:srgbClr val="26211A"/>
                </a:solidFill>
                <a:latin typeface="Calibri"/>
              </a:rPr>
              <a:t>Et 38,4 % d’alphabétisation (2015) : </a:t>
            </a:r>
            <a:r>
              <a:rPr sz="1600" b="0" i="0">
                <a:solidFill>
                  <a:srgbClr val="26211A"/>
                </a:solidFill>
                <a:latin typeface="Calibri"/>
              </a:rPr>
              <a:t>un outil qui exige de lire exclut la majorité des producteurs. L’inclusion n’est pas une option d’interface, c’est l’architecture.</a:t>
            </a:r>
          </a:p>
        </p:txBody>
      </p:sp>
      <p:sp>
        <p:nvSpPr>
          <p:cNvPr id="21" name="TextBox 20"/>
          <p:cNvSpPr txBox="1"/>
          <p:nvPr/>
        </p:nvSpPr>
        <p:spPr>
          <a:xfrm>
            <a:off x="548640" y="6355080"/>
            <a:ext cx="11064240" cy="320040"/>
          </a:xfrm>
          <a:prstGeom prst="rect">
            <a:avLst/>
          </a:prstGeom>
          <a:noFill/>
        </p:spPr>
        <p:txBody>
          <a:bodyPr wrap="square" lIns="0" rIns="0" tIns="0" bIns="0" anchor="t">
            <a:spAutoFit/>
          </a:bodyPr>
          <a:lstStyle/>
          <a:p>
            <a:pPr algn="l"/>
            <a:r>
              <a:rPr sz="1000" b="0" i="0">
                <a:solidFill>
                  <a:srgbClr val="665E51"/>
                </a:solidFill>
                <a:latin typeface="Calibri"/>
              </a:rPr>
              <a:t>Sources : La Nouvelle Tribune (sept. 2026) ; OMC / FAO, jassides ; Inter-réseaux, pesticides dans l’Ouémé ; IndexMundi. Détail et niveau de preuve : docs/JUSTIFICATION_RECHERCHE.md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t">
            <a:spAutoFit/>
          </a:bodyPr>
          <a:lstStyle/>
          <a:p>
            <a:pPr algn="l"/>
            <a:r>
              <a:rPr sz="3400" b="1" i="0">
                <a:solidFill>
                  <a:srgbClr val="26211A"/>
                </a:solidFill>
                <a:latin typeface="Cambria"/>
              </a:rPr>
              <a:t>Quatre moments où le producteur perd</a:t>
            </a:r>
          </a:p>
        </p:txBody>
      </p:sp>
      <p:sp>
        <p:nvSpPr>
          <p:cNvPr id="3" name="TextBox 2"/>
          <p:cNvSpPr txBox="1"/>
          <p:nvPr/>
        </p:nvSpPr>
        <p:spPr>
          <a:xfrm>
            <a:off x="548640" y="1097280"/>
            <a:ext cx="11064240" cy="457200"/>
          </a:xfrm>
          <a:prstGeom prst="rect">
            <a:avLst/>
          </a:prstGeom>
          <a:noFill/>
        </p:spPr>
        <p:txBody>
          <a:bodyPr wrap="square" lIns="0" rIns="0" tIns="0" bIns="0" anchor="t">
            <a:spAutoFit/>
          </a:bodyPr>
          <a:lstStyle/>
          <a:p>
            <a:pPr algn="l"/>
            <a:r>
              <a:rPr sz="1600" b="0" i="0">
                <a:solidFill>
                  <a:srgbClr val="665E51"/>
                </a:solidFill>
                <a:latin typeface="Calibri"/>
              </a:rPr>
              <a:t>La fiche du challenge en demande deux ; le terrain en impose quatre</a:t>
            </a:r>
          </a:p>
        </p:txBody>
      </p:sp>
      <p:sp>
        <p:nvSpPr>
          <p:cNvPr id="4" name="Oval 3"/>
          <p:cNvSpPr/>
          <p:nvPr/>
        </p:nvSpPr>
        <p:spPr>
          <a:xfrm>
            <a:off x="640080" y="1783080"/>
            <a:ext cx="640080" cy="640080"/>
          </a:xfrm>
          <a:prstGeom prst="ellipse">
            <a:avLst/>
          </a:prstGeom>
          <a:solidFill>
            <a:srgbClr val="007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1</a:t>
            </a:r>
          </a:p>
        </p:txBody>
      </p:sp>
      <p:sp>
        <p:nvSpPr>
          <p:cNvPr id="5" name="TextBox 4"/>
          <p:cNvSpPr txBox="1"/>
          <p:nvPr/>
        </p:nvSpPr>
        <p:spPr>
          <a:xfrm>
            <a:off x="1508760" y="1764792"/>
            <a:ext cx="2743200" cy="457200"/>
          </a:xfrm>
          <a:prstGeom prst="rect">
            <a:avLst/>
          </a:prstGeom>
          <a:noFill/>
        </p:spPr>
        <p:txBody>
          <a:bodyPr wrap="square" lIns="0" rIns="0" tIns="0" bIns="0" anchor="t">
            <a:spAutoFit/>
          </a:bodyPr>
          <a:lstStyle/>
          <a:p>
            <a:pPr algn="l"/>
            <a:r>
              <a:rPr sz="2000" b="1" i="0">
                <a:solidFill>
                  <a:srgbClr val="26211A"/>
                </a:solidFill>
                <a:latin typeface="Cambria"/>
              </a:rPr>
              <a:t>Au semis</a:t>
            </a:r>
          </a:p>
        </p:txBody>
      </p:sp>
      <p:sp>
        <p:nvSpPr>
          <p:cNvPr id="6" name="TextBox 5"/>
          <p:cNvSpPr txBox="1"/>
          <p:nvPr/>
        </p:nvSpPr>
        <p:spPr>
          <a:xfrm>
            <a:off x="1508760" y="2194560"/>
            <a:ext cx="5669280" cy="640080"/>
          </a:xfrm>
          <a:prstGeom prst="rect">
            <a:avLst/>
          </a:prstGeom>
          <a:noFill/>
        </p:spPr>
        <p:txBody>
          <a:bodyPr wrap="square" lIns="0" rIns="0" tIns="0" bIns="0" anchor="t">
            <a:spAutoFit/>
          </a:bodyPr>
          <a:lstStyle/>
          <a:p>
            <a:pPr algn="l"/>
            <a:r>
              <a:rPr sz="1500" b="0" i="0">
                <a:solidFill>
                  <a:srgbClr val="665E51"/>
                </a:solidFill>
                <a:latin typeface="Calibri"/>
              </a:rPr>
              <a:t>Un faux départ des pluies fait perdre la levée : on sème après une averse, puis sept jours secs.</a:t>
            </a:r>
          </a:p>
        </p:txBody>
      </p:sp>
      <p:sp>
        <p:nvSpPr>
          <p:cNvPr id="7" name="Oval 6"/>
          <p:cNvSpPr/>
          <p:nvPr/>
        </p:nvSpPr>
        <p:spPr>
          <a:xfrm>
            <a:off x="640080" y="2880360"/>
            <a:ext cx="640080" cy="640080"/>
          </a:xfrm>
          <a:prstGeom prst="ellipse">
            <a:avLst/>
          </a:prstGeom>
          <a:solidFill>
            <a:srgbClr val="007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2</a:t>
            </a:r>
          </a:p>
        </p:txBody>
      </p:sp>
      <p:sp>
        <p:nvSpPr>
          <p:cNvPr id="8" name="TextBox 7"/>
          <p:cNvSpPr txBox="1"/>
          <p:nvPr/>
        </p:nvSpPr>
        <p:spPr>
          <a:xfrm>
            <a:off x="1508760" y="2862072"/>
            <a:ext cx="2743200" cy="457200"/>
          </a:xfrm>
          <a:prstGeom prst="rect">
            <a:avLst/>
          </a:prstGeom>
          <a:noFill/>
        </p:spPr>
        <p:txBody>
          <a:bodyPr wrap="square" lIns="0" rIns="0" tIns="0" bIns="0" anchor="t">
            <a:spAutoFit/>
          </a:bodyPr>
          <a:lstStyle/>
          <a:p>
            <a:pPr algn="l"/>
            <a:r>
              <a:rPr sz="2000" b="1" i="0">
                <a:solidFill>
                  <a:srgbClr val="26211A"/>
                </a:solidFill>
                <a:latin typeface="Cambria"/>
              </a:rPr>
              <a:t>Pendant la culture</a:t>
            </a:r>
          </a:p>
        </p:txBody>
      </p:sp>
      <p:sp>
        <p:nvSpPr>
          <p:cNvPr id="9" name="TextBox 8"/>
          <p:cNvSpPr txBox="1"/>
          <p:nvPr/>
        </p:nvSpPr>
        <p:spPr>
          <a:xfrm>
            <a:off x="1508760" y="3291840"/>
            <a:ext cx="5669280" cy="640080"/>
          </a:xfrm>
          <a:prstGeom prst="rect">
            <a:avLst/>
          </a:prstGeom>
          <a:noFill/>
        </p:spPr>
        <p:txBody>
          <a:bodyPr wrap="square" lIns="0" rIns="0" tIns="0" bIns="0" anchor="t">
            <a:spAutoFit/>
          </a:bodyPr>
          <a:lstStyle/>
          <a:p>
            <a:pPr algn="l"/>
            <a:r>
              <a:rPr sz="1500" b="0" i="0">
                <a:solidFill>
                  <a:srgbClr val="665E51"/>
                </a:solidFill>
                <a:latin typeface="Calibri"/>
              </a:rPr>
              <a:t>Chenille légionnaire et jassides détectées trop tard : la brigade voit l’attaque, le voisin ne le sait pas.</a:t>
            </a:r>
          </a:p>
        </p:txBody>
      </p:sp>
      <p:sp>
        <p:nvSpPr>
          <p:cNvPr id="10" name="Oval 9"/>
          <p:cNvSpPr/>
          <p:nvPr/>
        </p:nvSpPr>
        <p:spPr>
          <a:xfrm>
            <a:off x="640080" y="3977639"/>
            <a:ext cx="640080" cy="640080"/>
          </a:xfrm>
          <a:prstGeom prst="ellipse">
            <a:avLst/>
          </a:prstGeom>
          <a:solidFill>
            <a:srgbClr val="007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3</a:t>
            </a:r>
          </a:p>
        </p:txBody>
      </p:sp>
      <p:sp>
        <p:nvSpPr>
          <p:cNvPr id="11" name="TextBox 10"/>
          <p:cNvSpPr txBox="1"/>
          <p:nvPr/>
        </p:nvSpPr>
        <p:spPr>
          <a:xfrm>
            <a:off x="1508760" y="3959352"/>
            <a:ext cx="2743200" cy="457200"/>
          </a:xfrm>
          <a:prstGeom prst="rect">
            <a:avLst/>
          </a:prstGeom>
          <a:noFill/>
        </p:spPr>
        <p:txBody>
          <a:bodyPr wrap="square" lIns="0" rIns="0" tIns="0" bIns="0" anchor="t">
            <a:spAutoFit/>
          </a:bodyPr>
          <a:lstStyle/>
          <a:p>
            <a:pPr algn="l"/>
            <a:r>
              <a:rPr sz="2000" b="1" i="0">
                <a:solidFill>
                  <a:srgbClr val="26211A"/>
                </a:solidFill>
                <a:latin typeface="Cambria"/>
              </a:rPr>
              <a:t>Au traitement</a:t>
            </a:r>
          </a:p>
        </p:txBody>
      </p:sp>
      <p:sp>
        <p:nvSpPr>
          <p:cNvPr id="12" name="TextBox 11"/>
          <p:cNvSpPr txBox="1"/>
          <p:nvPr/>
        </p:nvSpPr>
        <p:spPr>
          <a:xfrm>
            <a:off x="1508760" y="4389120"/>
            <a:ext cx="5669280" cy="640080"/>
          </a:xfrm>
          <a:prstGeom prst="rect">
            <a:avLst/>
          </a:prstGeom>
          <a:noFill/>
        </p:spPr>
        <p:txBody>
          <a:bodyPr wrap="square" lIns="0" rIns="0" tIns="0" bIns="0" anchor="t">
            <a:spAutoFit/>
          </a:bodyPr>
          <a:lstStyle/>
          <a:p>
            <a:pPr algn="l"/>
            <a:r>
              <a:rPr sz="1500" b="0" i="0">
                <a:solidFill>
                  <a:srgbClr val="665E51"/>
                </a:solidFill>
                <a:latin typeface="Calibri"/>
              </a:rPr>
              <a:t>Des pesticides non homologués, souvent importés hors circuit, dangereux pour la santé et le sol.</a:t>
            </a:r>
          </a:p>
        </p:txBody>
      </p:sp>
      <p:sp>
        <p:nvSpPr>
          <p:cNvPr id="13" name="Oval 12"/>
          <p:cNvSpPr/>
          <p:nvPr/>
        </p:nvSpPr>
        <p:spPr>
          <a:xfrm>
            <a:off x="640080" y="5074920"/>
            <a:ext cx="640080" cy="640080"/>
          </a:xfrm>
          <a:prstGeom prst="ellipse">
            <a:avLst/>
          </a:prstGeom>
          <a:solidFill>
            <a:srgbClr val="007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4</a:t>
            </a:r>
          </a:p>
        </p:txBody>
      </p:sp>
      <p:sp>
        <p:nvSpPr>
          <p:cNvPr id="14" name="TextBox 13"/>
          <p:cNvSpPr txBox="1"/>
          <p:nvPr/>
        </p:nvSpPr>
        <p:spPr>
          <a:xfrm>
            <a:off x="1508760" y="5056632"/>
            <a:ext cx="2743200" cy="457200"/>
          </a:xfrm>
          <a:prstGeom prst="rect">
            <a:avLst/>
          </a:prstGeom>
          <a:noFill/>
        </p:spPr>
        <p:txBody>
          <a:bodyPr wrap="square" lIns="0" rIns="0" tIns="0" bIns="0" anchor="t">
            <a:spAutoFit/>
          </a:bodyPr>
          <a:lstStyle/>
          <a:p>
            <a:pPr algn="l"/>
            <a:r>
              <a:rPr sz="2000" b="1" i="0">
                <a:solidFill>
                  <a:srgbClr val="26211A"/>
                </a:solidFill>
                <a:latin typeface="Cambria"/>
              </a:rPr>
              <a:t>Après la récolte</a:t>
            </a:r>
          </a:p>
        </p:txBody>
      </p:sp>
      <p:sp>
        <p:nvSpPr>
          <p:cNvPr id="15" name="TextBox 14"/>
          <p:cNvSpPr txBox="1"/>
          <p:nvPr/>
        </p:nvSpPr>
        <p:spPr>
          <a:xfrm>
            <a:off x="1508760" y="5486400"/>
            <a:ext cx="5669280" cy="640080"/>
          </a:xfrm>
          <a:prstGeom prst="rect">
            <a:avLst/>
          </a:prstGeom>
          <a:noFill/>
        </p:spPr>
        <p:txBody>
          <a:bodyPr wrap="square" lIns="0" rIns="0" tIns="0" bIns="0" anchor="t">
            <a:spAutoFit/>
          </a:bodyPr>
          <a:lstStyle/>
          <a:p>
            <a:pPr algn="l"/>
            <a:r>
              <a:rPr sz="1500" b="0" i="0">
                <a:solidFill>
                  <a:srgbClr val="665E51"/>
                </a:solidFill>
                <a:latin typeface="Calibri"/>
              </a:rPr>
              <a:t>Maïs et arachide mal séchés développent des aflatoxines : des lots refusés, un risque sanitaire.</a:t>
            </a:r>
          </a:p>
        </p:txBody>
      </p:sp>
      <p:pic>
        <p:nvPicPr>
          <p:cNvPr id="16" name="Picture 15" descr="semis.png"/>
          <p:cNvPicPr>
            <a:picLocks noChangeAspect="1"/>
          </p:cNvPicPr>
          <p:nvPr/>
        </p:nvPicPr>
        <p:blipFill>
          <a:blip r:embed="rId2"/>
          <a:stretch>
            <a:fillRect/>
          </a:stretch>
        </p:blipFill>
        <p:spPr>
          <a:xfrm>
            <a:off x="7863840" y="1371600"/>
            <a:ext cx="2239413" cy="4846320"/>
          </a:xfrm>
          <a:prstGeom prst="rect">
            <a:avLst/>
          </a:prstGeom>
          <a:ln w="9525">
            <a:solidFill>
              <a:srgbClr val="E5E1D5"/>
            </a:solidFill>
          </a:ln>
        </p:spPr>
      </p:pic>
      <p:sp>
        <p:nvSpPr>
          <p:cNvPr id="17" name="TextBox 16"/>
          <p:cNvSpPr txBox="1"/>
          <p:nvPr/>
        </p:nvSpPr>
        <p:spPr>
          <a:xfrm>
            <a:off x="548640" y="6355080"/>
            <a:ext cx="11064240" cy="320040"/>
          </a:xfrm>
          <a:prstGeom prst="rect">
            <a:avLst/>
          </a:prstGeom>
          <a:noFill/>
        </p:spPr>
        <p:txBody>
          <a:bodyPr wrap="square" lIns="0" rIns="0" tIns="0" bIns="0" anchor="t">
            <a:spAutoFit/>
          </a:bodyPr>
          <a:lstStyle/>
          <a:p>
            <a:pPr algn="l"/>
            <a:r>
              <a:rPr sz="1000" b="0" i="0">
                <a:solidFill>
                  <a:srgbClr val="665E51"/>
                </a:solidFill>
                <a:latin typeface="Calibri"/>
              </a:rPr>
              <a:t>Critère de démarrage des pluies : Sivakumar (1988). Aflatoxines : Hell et al. (2003), IITA, 300 greniers au Bénin.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7A4A"/>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t">
            <a:spAutoFit/>
          </a:bodyPr>
          <a:lstStyle/>
          <a:p>
            <a:pPr algn="l"/>
            <a:r>
              <a:rPr sz="3400" b="1" i="0">
                <a:solidFill>
                  <a:srgbClr val="FFFFFF"/>
                </a:solidFill>
                <a:latin typeface="Cambria"/>
              </a:rPr>
              <a:t>Ne pas créer une application de plus</a:t>
            </a:r>
          </a:p>
        </p:txBody>
      </p:sp>
      <p:sp>
        <p:nvSpPr>
          <p:cNvPr id="3" name="TextBox 2"/>
          <p:cNvSpPr txBox="1"/>
          <p:nvPr/>
        </p:nvSpPr>
        <p:spPr>
          <a:xfrm>
            <a:off x="548640" y="1097280"/>
            <a:ext cx="11064240" cy="457200"/>
          </a:xfrm>
          <a:prstGeom prst="rect">
            <a:avLst/>
          </a:prstGeom>
          <a:noFill/>
        </p:spPr>
        <p:txBody>
          <a:bodyPr wrap="square" lIns="0" rIns="0" tIns="0" bIns="0" anchor="t">
            <a:spAutoFit/>
          </a:bodyPr>
          <a:lstStyle/>
          <a:p>
            <a:pPr algn="l"/>
            <a:r>
              <a:rPr sz="1600" b="0" i="0">
                <a:solidFill>
                  <a:srgbClr val="E0F3E9"/>
                </a:solidFill>
                <a:latin typeface="Calibri"/>
              </a:rPr>
              <a:t>Relier ce que l’État possède déjà</a:t>
            </a:r>
          </a:p>
        </p:txBody>
      </p:sp>
      <p:sp>
        <p:nvSpPr>
          <p:cNvPr id="4" name="Rounded Rectangle 3"/>
          <p:cNvSpPr/>
          <p:nvPr/>
        </p:nvSpPr>
        <p:spPr>
          <a:xfrm>
            <a:off x="4773168" y="3428999"/>
            <a:ext cx="2651760" cy="10972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864608" y="3566159"/>
            <a:ext cx="2468880" cy="822960"/>
          </a:xfrm>
          <a:prstGeom prst="rect">
            <a:avLst/>
          </a:prstGeom>
          <a:noFill/>
        </p:spPr>
        <p:txBody>
          <a:bodyPr wrap="square" lIns="0" rIns="0" tIns="0" bIns="0" anchor="t">
            <a:spAutoFit/>
          </a:bodyPr>
          <a:lstStyle/>
          <a:p>
            <a:pPr algn="ctr"/>
            <a:r>
              <a:rPr sz="2400" b="1" i="0">
                <a:solidFill>
                  <a:srgbClr val="007A4A"/>
                </a:solidFill>
                <a:latin typeface="Cambria"/>
              </a:rPr>
              <a:t>AlerteAgri</a:t>
            </a:r>
          </a:p>
          <a:p>
            <a:pPr algn="ctr"/>
            <a:r>
              <a:rPr sz="1300" b="0" i="0">
                <a:solidFill>
                  <a:srgbClr val="665E51"/>
                </a:solidFill>
                <a:latin typeface="Calibri"/>
              </a:rPr>
              <a:t>couche de service</a:t>
            </a:r>
          </a:p>
        </p:txBody>
      </p:sp>
      <p:sp>
        <p:nvSpPr>
          <p:cNvPr id="6" name="Rounded Rectangle 5"/>
          <p:cNvSpPr/>
          <p:nvPr/>
        </p:nvSpPr>
        <p:spPr>
          <a:xfrm>
            <a:off x="1097280" y="1600200"/>
            <a:ext cx="2103120" cy="822960"/>
          </a:xfrm>
          <a:prstGeom prst="roundRect">
            <a:avLst>
              <a:gd name="adj" fmla="val 8000"/>
            </a:avLst>
          </a:prstGeom>
          <a:solidFill>
            <a:srgbClr val="005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34439" y="1673352"/>
            <a:ext cx="1828800" cy="731520"/>
          </a:xfrm>
          <a:prstGeom prst="rect">
            <a:avLst/>
          </a:prstGeom>
          <a:noFill/>
        </p:spPr>
        <p:txBody>
          <a:bodyPr wrap="square" lIns="0" rIns="0" tIns="0" bIns="0" anchor="t">
            <a:spAutoFit/>
          </a:bodyPr>
          <a:lstStyle/>
          <a:p>
            <a:pPr algn="l"/>
            <a:r>
              <a:rPr sz="1500" b="1" i="0">
                <a:solidFill>
                  <a:srgbClr val="FFFFFF"/>
                </a:solidFill>
                <a:latin typeface="Calibri"/>
              </a:rPr>
              <a:t>NPI · ANIP</a:t>
            </a:r>
          </a:p>
          <a:p>
            <a:pPr algn="l"/>
            <a:r>
              <a:rPr sz="1200" b="0" i="0">
                <a:solidFill>
                  <a:srgbClr val="E0F3E9"/>
                </a:solidFill>
                <a:latin typeface="Calibri"/>
              </a:rPr>
              <a:t>identité</a:t>
            </a:r>
          </a:p>
        </p:txBody>
      </p:sp>
      <p:cxnSp>
        <p:nvCxnSpPr>
          <p:cNvPr id="8" name="Connector 7"/>
          <p:cNvCxnSpPr/>
          <p:nvPr/>
        </p:nvCxnSpPr>
        <p:spPr>
          <a:xfrm>
            <a:off x="3200400" y="2011680"/>
            <a:ext cx="1572768" cy="1965959"/>
          </a:xfrm>
          <a:prstGeom prst="line">
            <a:avLst/>
          </a:prstGeom>
          <a:ln w="15875">
            <a:solidFill>
              <a:srgbClr val="E0F3E9"/>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914400" y="3337559"/>
            <a:ext cx="2103120" cy="822960"/>
          </a:xfrm>
          <a:prstGeom prst="roundRect">
            <a:avLst>
              <a:gd name="adj" fmla="val 8000"/>
            </a:avLst>
          </a:prstGeom>
          <a:solidFill>
            <a:srgbClr val="005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3410711"/>
            <a:ext cx="1828800" cy="731520"/>
          </a:xfrm>
          <a:prstGeom prst="rect">
            <a:avLst/>
          </a:prstGeom>
          <a:noFill/>
        </p:spPr>
        <p:txBody>
          <a:bodyPr wrap="square" lIns="0" rIns="0" tIns="0" bIns="0" anchor="t">
            <a:spAutoFit/>
          </a:bodyPr>
          <a:lstStyle/>
          <a:p>
            <a:pPr algn="l"/>
            <a:r>
              <a:rPr sz="1500" b="1" i="0">
                <a:solidFill>
                  <a:srgbClr val="FFFFFF"/>
                </a:solidFill>
                <a:latin typeface="Calibri"/>
              </a:rPr>
              <a:t>e-Agri · PITN2R</a:t>
            </a:r>
          </a:p>
          <a:p>
            <a:pPr algn="l"/>
            <a:r>
              <a:rPr sz="1200" b="0" i="0">
                <a:solidFill>
                  <a:srgbClr val="E0F3E9"/>
                </a:solidFill>
                <a:latin typeface="Calibri"/>
              </a:rPr>
              <a:t>registre des exploitations</a:t>
            </a:r>
          </a:p>
        </p:txBody>
      </p:sp>
      <p:cxnSp>
        <p:nvCxnSpPr>
          <p:cNvPr id="11" name="Connector 10"/>
          <p:cNvCxnSpPr/>
          <p:nvPr/>
        </p:nvCxnSpPr>
        <p:spPr>
          <a:xfrm>
            <a:off x="3017520" y="3749039"/>
            <a:ext cx="1755648" cy="228600"/>
          </a:xfrm>
          <a:prstGeom prst="line">
            <a:avLst/>
          </a:prstGeom>
          <a:ln w="15875">
            <a:solidFill>
              <a:srgbClr val="E0F3E9"/>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097280" y="5074920"/>
            <a:ext cx="2103120" cy="822960"/>
          </a:xfrm>
          <a:prstGeom prst="roundRect">
            <a:avLst>
              <a:gd name="adj" fmla="val 8000"/>
            </a:avLst>
          </a:prstGeom>
          <a:solidFill>
            <a:srgbClr val="005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34439" y="5148072"/>
            <a:ext cx="1828800" cy="731520"/>
          </a:xfrm>
          <a:prstGeom prst="rect">
            <a:avLst/>
          </a:prstGeom>
          <a:noFill/>
        </p:spPr>
        <p:txBody>
          <a:bodyPr wrap="square" lIns="0" rIns="0" tIns="0" bIns="0" anchor="t">
            <a:spAutoFit/>
          </a:bodyPr>
          <a:lstStyle/>
          <a:p>
            <a:pPr algn="l"/>
            <a:r>
              <a:rPr sz="1500" b="1" i="0">
                <a:solidFill>
                  <a:srgbClr val="FFFFFF"/>
                </a:solidFill>
                <a:latin typeface="Calibri"/>
              </a:rPr>
              <a:t>Météo</a:t>
            </a:r>
          </a:p>
          <a:p>
            <a:pPr algn="l"/>
            <a:r>
              <a:rPr sz="1200" b="0" i="0">
                <a:solidFill>
                  <a:srgbClr val="E0F3E9"/>
                </a:solidFill>
                <a:latin typeface="Calibri"/>
              </a:rPr>
              <a:t>Open-Meteo, Météo-Bénin</a:t>
            </a:r>
          </a:p>
        </p:txBody>
      </p:sp>
      <p:cxnSp>
        <p:nvCxnSpPr>
          <p:cNvPr id="14" name="Connector 13"/>
          <p:cNvCxnSpPr/>
          <p:nvPr/>
        </p:nvCxnSpPr>
        <p:spPr>
          <a:xfrm flipV="1">
            <a:off x="3200400" y="3977639"/>
            <a:ext cx="1572768" cy="1508761"/>
          </a:xfrm>
          <a:prstGeom prst="line">
            <a:avLst/>
          </a:prstGeom>
          <a:ln w="15875">
            <a:solidFill>
              <a:srgbClr val="E0F3E9"/>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9052560" y="1600200"/>
            <a:ext cx="2103120" cy="822960"/>
          </a:xfrm>
          <a:prstGeom prst="roundRect">
            <a:avLst>
              <a:gd name="adj" fmla="val 8000"/>
            </a:avLst>
          </a:prstGeom>
          <a:solidFill>
            <a:srgbClr val="005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89720" y="1673352"/>
            <a:ext cx="1828800" cy="731520"/>
          </a:xfrm>
          <a:prstGeom prst="rect">
            <a:avLst/>
          </a:prstGeom>
          <a:noFill/>
        </p:spPr>
        <p:txBody>
          <a:bodyPr wrap="square" lIns="0" rIns="0" tIns="0" bIns="0" anchor="t">
            <a:spAutoFit/>
          </a:bodyPr>
          <a:lstStyle/>
          <a:p>
            <a:pPr algn="l"/>
            <a:r>
              <a:rPr sz="1500" b="1" i="0">
                <a:solidFill>
                  <a:srgbClr val="FFFFFF"/>
                </a:solidFill>
                <a:latin typeface="Calibri"/>
              </a:rPr>
              <a:t>FAMEWS · FAO</a:t>
            </a:r>
          </a:p>
          <a:p>
            <a:pPr algn="l"/>
            <a:r>
              <a:rPr sz="1200" b="0" i="0">
                <a:solidFill>
                  <a:srgbClr val="E0F3E9"/>
                </a:solidFill>
                <a:latin typeface="Calibri"/>
              </a:rPr>
              <a:t>ravageurs</a:t>
            </a:r>
          </a:p>
        </p:txBody>
      </p:sp>
      <p:cxnSp>
        <p:nvCxnSpPr>
          <p:cNvPr id="17" name="Connector 16"/>
          <p:cNvCxnSpPr/>
          <p:nvPr/>
        </p:nvCxnSpPr>
        <p:spPr>
          <a:xfrm flipH="1">
            <a:off x="7424927" y="2011680"/>
            <a:ext cx="1627633" cy="1965959"/>
          </a:xfrm>
          <a:prstGeom prst="line">
            <a:avLst/>
          </a:prstGeom>
          <a:ln w="15875">
            <a:solidFill>
              <a:srgbClr val="E0F3E9"/>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9235440" y="3337559"/>
            <a:ext cx="2103120" cy="822960"/>
          </a:xfrm>
          <a:prstGeom prst="roundRect">
            <a:avLst>
              <a:gd name="adj" fmla="val 8000"/>
            </a:avLst>
          </a:prstGeom>
          <a:solidFill>
            <a:srgbClr val="005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72600" y="3410711"/>
            <a:ext cx="1828800" cy="731520"/>
          </a:xfrm>
          <a:prstGeom prst="rect">
            <a:avLst/>
          </a:prstGeom>
          <a:noFill/>
        </p:spPr>
        <p:txBody>
          <a:bodyPr wrap="square" lIns="0" rIns="0" tIns="0" bIns="0" anchor="t">
            <a:spAutoFit/>
          </a:bodyPr>
          <a:lstStyle/>
          <a:p>
            <a:pPr algn="l"/>
            <a:r>
              <a:rPr sz="1500" b="1" i="0">
                <a:solidFill>
                  <a:srgbClr val="FFFFFF"/>
                </a:solidFill>
                <a:latin typeface="Calibri"/>
              </a:rPr>
              <a:t>GDIZ · SIPI</a:t>
            </a:r>
          </a:p>
          <a:p>
            <a:pPr algn="l"/>
            <a:r>
              <a:rPr sz="1200" b="0" i="0">
                <a:solidFill>
                  <a:srgbClr val="E0F3E9"/>
                </a:solidFill>
                <a:latin typeface="Calibri"/>
              </a:rPr>
              <a:t>marché terminal</a:t>
            </a:r>
          </a:p>
        </p:txBody>
      </p:sp>
      <p:cxnSp>
        <p:nvCxnSpPr>
          <p:cNvPr id="20" name="Connector 19"/>
          <p:cNvCxnSpPr/>
          <p:nvPr/>
        </p:nvCxnSpPr>
        <p:spPr>
          <a:xfrm flipH="1">
            <a:off x="7424927" y="3749039"/>
            <a:ext cx="1810513" cy="228600"/>
          </a:xfrm>
          <a:prstGeom prst="line">
            <a:avLst/>
          </a:prstGeom>
          <a:ln w="15875">
            <a:solidFill>
              <a:srgbClr val="E0F3E9"/>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052560" y="5074920"/>
            <a:ext cx="2103120" cy="822960"/>
          </a:xfrm>
          <a:prstGeom prst="roundRect">
            <a:avLst>
              <a:gd name="adj" fmla="val 8000"/>
            </a:avLst>
          </a:prstGeom>
          <a:solidFill>
            <a:srgbClr val="005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89720" y="5148072"/>
            <a:ext cx="1828800" cy="731520"/>
          </a:xfrm>
          <a:prstGeom prst="rect">
            <a:avLst/>
          </a:prstGeom>
          <a:noFill/>
        </p:spPr>
        <p:txBody>
          <a:bodyPr wrap="square" lIns="0" rIns="0" tIns="0" bIns="0" anchor="t">
            <a:spAutoFit/>
          </a:bodyPr>
          <a:lstStyle/>
          <a:p>
            <a:pPr algn="l"/>
            <a:r>
              <a:rPr sz="1500" b="1" i="0">
                <a:solidFill>
                  <a:srgbClr val="FFFFFF"/>
                </a:solidFill>
                <a:latin typeface="Calibri"/>
              </a:rPr>
              <a:t>Mobile money</a:t>
            </a:r>
          </a:p>
          <a:p>
            <a:pPr algn="l"/>
            <a:r>
              <a:rPr sz="1200" b="0" i="0">
                <a:solidFill>
                  <a:srgbClr val="E0F3E9"/>
                </a:solidFill>
                <a:latin typeface="Calibri"/>
              </a:rPr>
              <a:t>TDL, paiements</a:t>
            </a:r>
          </a:p>
        </p:txBody>
      </p:sp>
      <p:cxnSp>
        <p:nvCxnSpPr>
          <p:cNvPr id="23" name="Connector 22"/>
          <p:cNvCxnSpPr/>
          <p:nvPr/>
        </p:nvCxnSpPr>
        <p:spPr>
          <a:xfrm flipH="1" flipV="1">
            <a:off x="7424927" y="3977639"/>
            <a:ext cx="1627633" cy="1508761"/>
          </a:xfrm>
          <a:prstGeom prst="line">
            <a:avLst/>
          </a:prstGeom>
          <a:ln w="15875">
            <a:solidFill>
              <a:srgbClr val="E0F3E9"/>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3657600" y="5577840"/>
            <a:ext cx="4937760" cy="822960"/>
          </a:xfrm>
          <a:prstGeom prst="rect">
            <a:avLst/>
          </a:prstGeom>
          <a:noFill/>
        </p:spPr>
        <p:txBody>
          <a:bodyPr wrap="square" lIns="0" rIns="0" tIns="0" bIns="0" anchor="t">
            <a:spAutoFit/>
          </a:bodyPr>
          <a:lstStyle/>
          <a:p>
            <a:pPr algn="ctr"/>
            <a:r>
              <a:rPr sz="1400" b="0" i="0">
                <a:solidFill>
                  <a:srgbClr val="E0F3E9"/>
                </a:solidFill>
                <a:latin typeface="Calibri"/>
              </a:rPr>
              <a:t>Le conseiller agricole de l’ATDA porte la plateforme jusqu’au producteur : il inscrit, signale, enregistre l’audio en langue locale.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t">
            <a:spAutoFit/>
          </a:bodyPr>
          <a:lstStyle/>
          <a:p>
            <a:pPr algn="l"/>
            <a:r>
              <a:rPr sz="3400" b="1" i="0">
                <a:solidFill>
                  <a:srgbClr val="26211A"/>
                </a:solidFill>
                <a:latin typeface="Cambria"/>
              </a:rPr>
              <a:t>L’outil d’une politique déjà annoncée</a:t>
            </a:r>
          </a:p>
        </p:txBody>
      </p:sp>
      <p:sp>
        <p:nvSpPr>
          <p:cNvPr id="3" name="TextBox 2"/>
          <p:cNvSpPr txBox="1"/>
          <p:nvPr/>
        </p:nvSpPr>
        <p:spPr>
          <a:xfrm>
            <a:off x="548640" y="1097280"/>
            <a:ext cx="11064240" cy="457200"/>
          </a:xfrm>
          <a:prstGeom prst="rect">
            <a:avLst/>
          </a:prstGeom>
          <a:noFill/>
        </p:spPr>
        <p:txBody>
          <a:bodyPr wrap="square" lIns="0" rIns="0" tIns="0" bIns="0" anchor="t">
            <a:spAutoFit/>
          </a:bodyPr>
          <a:lstStyle/>
          <a:p>
            <a:pPr algn="l"/>
            <a:r>
              <a:rPr sz="1600" b="0" i="0">
                <a:solidFill>
                  <a:srgbClr val="665E51"/>
                </a:solidFill>
                <a:latin typeface="Calibri"/>
              </a:rPr>
              <a:t>Programme 2026-2033 et priorités du ministre de l’Agriculture (26 mai 2026)</a:t>
            </a:r>
          </a:p>
        </p:txBody>
      </p:sp>
      <p:sp>
        <p:nvSpPr>
          <p:cNvPr id="4" name="Rounded Rectangle 3"/>
          <p:cNvSpPr/>
          <p:nvPr/>
        </p:nvSpPr>
        <p:spPr>
          <a:xfrm>
            <a:off x="548640" y="1737360"/>
            <a:ext cx="11064240" cy="749808"/>
          </a:xfrm>
          <a:prstGeom prst="roundRect">
            <a:avLst>
              <a:gd name="adj" fmla="val 8000"/>
            </a:avLst>
          </a:prstGeom>
          <a:solidFill>
            <a:srgbClr val="E0F3E9"/>
          </a:solidFill>
          <a:ln w="12700">
            <a:solidFill>
              <a:srgbClr val="E5E1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847088"/>
            <a:ext cx="4754880" cy="548640"/>
          </a:xfrm>
          <a:prstGeom prst="rect">
            <a:avLst/>
          </a:prstGeom>
          <a:noFill/>
        </p:spPr>
        <p:txBody>
          <a:bodyPr wrap="square" lIns="0" rIns="0" tIns="0" bIns="0" anchor="t">
            <a:spAutoFit/>
          </a:bodyPr>
          <a:lstStyle/>
          <a:p>
            <a:pPr algn="l"/>
            <a:r>
              <a:rPr sz="1500" b="1" i="0">
                <a:solidFill>
                  <a:srgbClr val="26211A"/>
                </a:solidFill>
                <a:latin typeface="Calibri"/>
              </a:rPr>
              <a:t>« L’entrée de l’agriculture dans l’ère du numérique »</a:t>
            </a:r>
          </a:p>
          <a:p>
            <a:pPr algn="l"/>
            <a:r>
              <a:rPr sz="1200" b="0" i="0">
                <a:solidFill>
                  <a:srgbClr val="665E51"/>
                </a:solidFill>
                <a:latin typeface="Calibri"/>
              </a:rPr>
              <a:t>priorité 7</a:t>
            </a:r>
          </a:p>
        </p:txBody>
      </p:sp>
      <p:sp>
        <p:nvSpPr>
          <p:cNvPr id="6" name="Oval 5"/>
          <p:cNvSpPr/>
          <p:nvPr/>
        </p:nvSpPr>
        <p:spPr>
          <a:xfrm>
            <a:off x="5760720" y="1901952"/>
            <a:ext cx="420624" cy="420624"/>
          </a:xfrm>
          <a:prstGeom prst="ellipse">
            <a:avLst/>
          </a:prstGeom>
          <a:solidFill>
            <a:srgbClr val="007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a:t>
            </a:r>
          </a:p>
        </p:txBody>
      </p:sp>
      <p:sp>
        <p:nvSpPr>
          <p:cNvPr id="7" name="TextBox 6"/>
          <p:cNvSpPr txBox="1"/>
          <p:nvPr/>
        </p:nvSpPr>
        <p:spPr>
          <a:xfrm>
            <a:off x="6400800" y="1920240"/>
            <a:ext cx="5029200" cy="548640"/>
          </a:xfrm>
          <a:prstGeom prst="rect">
            <a:avLst/>
          </a:prstGeom>
          <a:noFill/>
        </p:spPr>
        <p:txBody>
          <a:bodyPr wrap="square" lIns="0" rIns="0" tIns="0" bIns="0" anchor="t">
            <a:spAutoFit/>
          </a:bodyPr>
          <a:lstStyle/>
          <a:p>
            <a:pPr algn="l"/>
            <a:r>
              <a:rPr sz="1500" b="0" i="0">
                <a:solidFill>
                  <a:srgbClr val="26211A"/>
                </a:solidFill>
                <a:latin typeface="Calibri"/>
              </a:rPr>
              <a:t>USSD, SMS, voix et application hors ligne, portés par les conseillers</a:t>
            </a:r>
          </a:p>
        </p:txBody>
      </p:sp>
      <p:sp>
        <p:nvSpPr>
          <p:cNvPr id="8" name="Rounded Rectangle 7"/>
          <p:cNvSpPr/>
          <p:nvPr/>
        </p:nvSpPr>
        <p:spPr>
          <a:xfrm>
            <a:off x="548640" y="2633472"/>
            <a:ext cx="11064240" cy="749808"/>
          </a:xfrm>
          <a:prstGeom prst="roundRect">
            <a:avLst>
              <a:gd name="adj" fmla="val 8000"/>
            </a:avLst>
          </a:prstGeom>
          <a:solidFill>
            <a:srgbClr val="FFFFFF"/>
          </a:solidFill>
          <a:ln w="12700">
            <a:solidFill>
              <a:srgbClr val="E5E1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743200"/>
            <a:ext cx="4754880" cy="548640"/>
          </a:xfrm>
          <a:prstGeom prst="rect">
            <a:avLst/>
          </a:prstGeom>
          <a:noFill/>
        </p:spPr>
        <p:txBody>
          <a:bodyPr wrap="square" lIns="0" rIns="0" tIns="0" bIns="0" anchor="t">
            <a:spAutoFit/>
          </a:bodyPr>
          <a:lstStyle/>
          <a:p>
            <a:pPr algn="l"/>
            <a:r>
              <a:rPr sz="1500" b="1" i="0">
                <a:solidFill>
                  <a:srgbClr val="26211A"/>
                </a:solidFill>
                <a:latin typeface="Calibri"/>
              </a:rPr>
              <a:t>Suivi des cultures et traçabilité</a:t>
            </a:r>
          </a:p>
          <a:p>
            <a:pPr algn="l"/>
            <a:r>
              <a:rPr sz="1200" b="0" i="0">
                <a:solidFill>
                  <a:srgbClr val="665E51"/>
                </a:solidFill>
                <a:latin typeface="Calibri"/>
              </a:rPr>
              <a:t>programme 2026-2033</a:t>
            </a:r>
          </a:p>
        </p:txBody>
      </p:sp>
      <p:sp>
        <p:nvSpPr>
          <p:cNvPr id="10" name="Oval 9"/>
          <p:cNvSpPr/>
          <p:nvPr/>
        </p:nvSpPr>
        <p:spPr>
          <a:xfrm>
            <a:off x="5760720" y="2798064"/>
            <a:ext cx="420624" cy="420624"/>
          </a:xfrm>
          <a:prstGeom prst="ellipse">
            <a:avLst/>
          </a:prstGeom>
          <a:solidFill>
            <a:srgbClr val="007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a:t>
            </a:r>
          </a:p>
        </p:txBody>
      </p:sp>
      <p:sp>
        <p:nvSpPr>
          <p:cNvPr id="11" name="TextBox 10"/>
          <p:cNvSpPr txBox="1"/>
          <p:nvPr/>
        </p:nvSpPr>
        <p:spPr>
          <a:xfrm>
            <a:off x="6400800" y="2816352"/>
            <a:ext cx="5029200" cy="548640"/>
          </a:xfrm>
          <a:prstGeom prst="rect">
            <a:avLst/>
          </a:prstGeom>
          <a:noFill/>
        </p:spPr>
        <p:txBody>
          <a:bodyPr wrap="square" lIns="0" rIns="0" tIns="0" bIns="0" anchor="t">
            <a:spAutoFit/>
          </a:bodyPr>
          <a:lstStyle/>
          <a:p>
            <a:pPr algn="l"/>
            <a:r>
              <a:rPr sz="1500" b="0" i="0">
                <a:solidFill>
                  <a:srgbClr val="26211A"/>
                </a:solidFill>
                <a:latin typeface="Calibri"/>
              </a:rPr>
              <a:t>parcelles géolocalisées, étapes et rappels, lots avec QR prêts pour l’EUDR</a:t>
            </a:r>
          </a:p>
        </p:txBody>
      </p:sp>
      <p:sp>
        <p:nvSpPr>
          <p:cNvPr id="12" name="Rounded Rectangle 11"/>
          <p:cNvSpPr/>
          <p:nvPr/>
        </p:nvSpPr>
        <p:spPr>
          <a:xfrm>
            <a:off x="548640" y="3529584"/>
            <a:ext cx="11064240" cy="749808"/>
          </a:xfrm>
          <a:prstGeom prst="roundRect">
            <a:avLst>
              <a:gd name="adj" fmla="val 8000"/>
            </a:avLst>
          </a:prstGeom>
          <a:solidFill>
            <a:srgbClr val="E0F3E9"/>
          </a:solidFill>
          <a:ln w="12700">
            <a:solidFill>
              <a:srgbClr val="E5E1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639312"/>
            <a:ext cx="4754880" cy="548640"/>
          </a:xfrm>
          <a:prstGeom prst="rect">
            <a:avLst/>
          </a:prstGeom>
          <a:noFill/>
        </p:spPr>
        <p:txBody>
          <a:bodyPr wrap="square" lIns="0" rIns="0" tIns="0" bIns="0" anchor="t">
            <a:spAutoFit/>
          </a:bodyPr>
          <a:lstStyle/>
          <a:p>
            <a:pPr algn="l"/>
            <a:r>
              <a:rPr sz="1500" b="1" i="0">
                <a:solidFill>
                  <a:srgbClr val="26211A"/>
                </a:solidFill>
                <a:latin typeface="Calibri"/>
              </a:rPr>
              <a:t>Accélérer l’agro-industrialisation</a:t>
            </a:r>
          </a:p>
          <a:p>
            <a:pPr algn="l"/>
            <a:r>
              <a:rPr sz="1200" b="0" i="0">
                <a:solidFill>
                  <a:srgbClr val="665E51"/>
                </a:solidFill>
                <a:latin typeface="Calibri"/>
              </a:rPr>
              <a:t>priorité 6</a:t>
            </a:r>
          </a:p>
        </p:txBody>
      </p:sp>
      <p:sp>
        <p:nvSpPr>
          <p:cNvPr id="14" name="Oval 13"/>
          <p:cNvSpPr/>
          <p:nvPr/>
        </p:nvSpPr>
        <p:spPr>
          <a:xfrm>
            <a:off x="5760720" y="3694176"/>
            <a:ext cx="420624" cy="420624"/>
          </a:xfrm>
          <a:prstGeom prst="ellipse">
            <a:avLst/>
          </a:prstGeom>
          <a:solidFill>
            <a:srgbClr val="007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a:t>
            </a:r>
          </a:p>
        </p:txBody>
      </p:sp>
      <p:sp>
        <p:nvSpPr>
          <p:cNvPr id="15" name="TextBox 14"/>
          <p:cNvSpPr txBox="1"/>
          <p:nvPr/>
        </p:nvSpPr>
        <p:spPr>
          <a:xfrm>
            <a:off x="6400800" y="3712463"/>
            <a:ext cx="5029200" cy="548640"/>
          </a:xfrm>
          <a:prstGeom prst="rect">
            <a:avLst/>
          </a:prstGeom>
          <a:noFill/>
        </p:spPr>
        <p:txBody>
          <a:bodyPr wrap="square" lIns="0" rIns="0" tIns="0" bIns="0" anchor="t">
            <a:spAutoFit/>
          </a:bodyPr>
          <a:lstStyle/>
          <a:p>
            <a:pPr algn="l"/>
            <a:r>
              <a:rPr sz="1500" b="0" i="0">
                <a:solidFill>
                  <a:srgbClr val="26211A"/>
                </a:solidFill>
                <a:latin typeface="Calibri"/>
              </a:rPr>
              <a:t>production attendue face aux capacités de la GDIZ</a:t>
            </a:r>
          </a:p>
        </p:txBody>
      </p:sp>
      <p:sp>
        <p:nvSpPr>
          <p:cNvPr id="16" name="Rounded Rectangle 15"/>
          <p:cNvSpPr/>
          <p:nvPr/>
        </p:nvSpPr>
        <p:spPr>
          <a:xfrm>
            <a:off x="548640" y="4425696"/>
            <a:ext cx="11064240" cy="749808"/>
          </a:xfrm>
          <a:prstGeom prst="roundRect">
            <a:avLst>
              <a:gd name="adj" fmla="val 8000"/>
            </a:avLst>
          </a:prstGeom>
          <a:solidFill>
            <a:srgbClr val="FFFFFF"/>
          </a:solidFill>
          <a:ln w="12700">
            <a:solidFill>
              <a:srgbClr val="E5E1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535424"/>
            <a:ext cx="4754880" cy="548640"/>
          </a:xfrm>
          <a:prstGeom prst="rect">
            <a:avLst/>
          </a:prstGeom>
          <a:noFill/>
        </p:spPr>
        <p:txBody>
          <a:bodyPr wrap="square" lIns="0" rIns="0" tIns="0" bIns="0" anchor="t">
            <a:spAutoFit/>
          </a:bodyPr>
          <a:lstStyle/>
          <a:p>
            <a:pPr algn="l"/>
            <a:r>
              <a:rPr sz="1500" b="1" i="0">
                <a:solidFill>
                  <a:srgbClr val="26211A"/>
                </a:solidFill>
                <a:latin typeface="Calibri"/>
              </a:rPr>
              <a:t>Tripler ou doubler les rendements</a:t>
            </a:r>
          </a:p>
          <a:p>
            <a:pPr algn="l"/>
            <a:r>
              <a:rPr sz="1200" b="0" i="0">
                <a:solidFill>
                  <a:srgbClr val="665E51"/>
                </a:solidFill>
                <a:latin typeface="Calibri"/>
              </a:rPr>
              <a:t>maïs, manioc, soja, cajou…</a:t>
            </a:r>
          </a:p>
        </p:txBody>
      </p:sp>
      <p:sp>
        <p:nvSpPr>
          <p:cNvPr id="18" name="Oval 17"/>
          <p:cNvSpPr/>
          <p:nvPr/>
        </p:nvSpPr>
        <p:spPr>
          <a:xfrm>
            <a:off x="5760720" y="4590288"/>
            <a:ext cx="420624" cy="420624"/>
          </a:xfrm>
          <a:prstGeom prst="ellipse">
            <a:avLst/>
          </a:prstGeom>
          <a:solidFill>
            <a:srgbClr val="007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a:t>
            </a:r>
          </a:p>
        </p:txBody>
      </p:sp>
      <p:sp>
        <p:nvSpPr>
          <p:cNvPr id="19" name="TextBox 18"/>
          <p:cNvSpPr txBox="1"/>
          <p:nvPr/>
        </p:nvSpPr>
        <p:spPr>
          <a:xfrm>
            <a:off x="6400800" y="4608576"/>
            <a:ext cx="5029200" cy="548640"/>
          </a:xfrm>
          <a:prstGeom prst="rect">
            <a:avLst/>
          </a:prstGeom>
          <a:noFill/>
        </p:spPr>
        <p:txBody>
          <a:bodyPr wrap="square" lIns="0" rIns="0" tIns="0" bIns="0" anchor="t">
            <a:spAutoFit/>
          </a:bodyPr>
          <a:lstStyle/>
          <a:p>
            <a:pPr algn="l"/>
            <a:r>
              <a:rPr sz="1500" b="0" i="0">
                <a:solidFill>
                  <a:srgbClr val="26211A"/>
                </a:solidFill>
                <a:latin typeface="Calibri"/>
              </a:rPr>
              <a:t>semer au bon moment, alerte précoce, intrants homologués</a:t>
            </a:r>
          </a:p>
        </p:txBody>
      </p:sp>
      <p:sp>
        <p:nvSpPr>
          <p:cNvPr id="20" name="Rounded Rectangle 19"/>
          <p:cNvSpPr/>
          <p:nvPr/>
        </p:nvSpPr>
        <p:spPr>
          <a:xfrm>
            <a:off x="548640" y="5321808"/>
            <a:ext cx="11064240" cy="749808"/>
          </a:xfrm>
          <a:prstGeom prst="roundRect">
            <a:avLst>
              <a:gd name="adj" fmla="val 8000"/>
            </a:avLst>
          </a:prstGeom>
          <a:solidFill>
            <a:srgbClr val="E0F3E9"/>
          </a:solidFill>
          <a:ln w="12700">
            <a:solidFill>
              <a:srgbClr val="E5E1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431536"/>
            <a:ext cx="4754880" cy="548640"/>
          </a:xfrm>
          <a:prstGeom prst="rect">
            <a:avLst/>
          </a:prstGeom>
          <a:noFill/>
        </p:spPr>
        <p:txBody>
          <a:bodyPr wrap="square" lIns="0" rIns="0" tIns="0" bIns="0" anchor="t">
            <a:spAutoFit/>
          </a:bodyPr>
          <a:lstStyle/>
          <a:p>
            <a:pPr algn="l"/>
            <a:r>
              <a:rPr sz="1500" b="1" i="0">
                <a:solidFill>
                  <a:srgbClr val="26211A"/>
                </a:solidFill>
                <a:latin typeface="Calibri"/>
              </a:rPr>
              <a:t>Assurance agricole et protection sociale</a:t>
            </a:r>
          </a:p>
          <a:p>
            <a:pPr algn="l"/>
            <a:r>
              <a:rPr sz="1200" b="0" i="0">
                <a:solidFill>
                  <a:srgbClr val="665E51"/>
                </a:solidFill>
                <a:latin typeface="Calibri"/>
              </a:rPr>
              <a:t>priorité 8</a:t>
            </a:r>
          </a:p>
        </p:txBody>
      </p:sp>
      <p:sp>
        <p:nvSpPr>
          <p:cNvPr id="22" name="Oval 21"/>
          <p:cNvSpPr/>
          <p:nvPr/>
        </p:nvSpPr>
        <p:spPr>
          <a:xfrm>
            <a:off x="5760720" y="5486400"/>
            <a:ext cx="420624" cy="420624"/>
          </a:xfrm>
          <a:prstGeom prst="ellipse">
            <a:avLst/>
          </a:prstGeom>
          <a:solidFill>
            <a:srgbClr val="007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a:t>
            </a:r>
          </a:p>
        </p:txBody>
      </p:sp>
      <p:sp>
        <p:nvSpPr>
          <p:cNvPr id="23" name="TextBox 22"/>
          <p:cNvSpPr txBox="1"/>
          <p:nvPr/>
        </p:nvSpPr>
        <p:spPr>
          <a:xfrm>
            <a:off x="6400800" y="5504688"/>
            <a:ext cx="5029200" cy="548640"/>
          </a:xfrm>
          <a:prstGeom prst="rect">
            <a:avLst/>
          </a:prstGeom>
          <a:noFill/>
        </p:spPr>
        <p:txBody>
          <a:bodyPr wrap="square" lIns="0" rIns="0" tIns="0" bIns="0" anchor="t">
            <a:spAutoFit/>
          </a:bodyPr>
          <a:lstStyle/>
          <a:p>
            <a:pPr algn="l"/>
            <a:r>
              <a:rPr sz="1500" b="0" i="0">
                <a:solidFill>
                  <a:srgbClr val="26211A"/>
                </a:solidFill>
                <a:latin typeface="Calibri"/>
              </a:rPr>
              <a:t>indice de sécheresse par commune (simulation) sur les mêmes données</a:t>
            </a:r>
          </a:p>
        </p:txBody>
      </p:sp>
      <p:sp>
        <p:nvSpPr>
          <p:cNvPr id="24" name="TextBox 23"/>
          <p:cNvSpPr txBox="1"/>
          <p:nvPr/>
        </p:nvSpPr>
        <p:spPr>
          <a:xfrm>
            <a:off x="548640" y="6355080"/>
            <a:ext cx="11064240" cy="320040"/>
          </a:xfrm>
          <a:prstGeom prst="rect">
            <a:avLst/>
          </a:prstGeom>
          <a:noFill/>
        </p:spPr>
        <p:txBody>
          <a:bodyPr wrap="square" lIns="0" rIns="0" tIns="0" bIns="0" anchor="t">
            <a:spAutoFit/>
          </a:bodyPr>
          <a:lstStyle/>
          <a:p>
            <a:pPr algn="l"/>
            <a:r>
              <a:rPr sz="1000" b="0" i="0">
                <a:solidFill>
                  <a:srgbClr val="665E51"/>
                </a:solidFill>
                <a:latin typeface="Calibri"/>
              </a:rPr>
              <a:t>Sources : gouv.bj, passation au ministère de l’Agriculture (26/05/2026) ; wadagni.bj, programme 2026-2033, volet agriculture.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t">
            <a:spAutoFit/>
          </a:bodyPr>
          <a:lstStyle/>
          <a:p>
            <a:pPr algn="l"/>
            <a:r>
              <a:rPr sz="3400" b="1" i="0">
                <a:solidFill>
                  <a:srgbClr val="26211A"/>
                </a:solidFill>
                <a:latin typeface="Cambria"/>
              </a:rPr>
              <a:t>Trois canaux, une seule logique</a:t>
            </a:r>
          </a:p>
        </p:txBody>
      </p:sp>
      <p:sp>
        <p:nvSpPr>
          <p:cNvPr id="3" name="TextBox 2"/>
          <p:cNvSpPr txBox="1"/>
          <p:nvPr/>
        </p:nvSpPr>
        <p:spPr>
          <a:xfrm>
            <a:off x="548640" y="1097280"/>
            <a:ext cx="11064240" cy="457200"/>
          </a:xfrm>
          <a:prstGeom prst="rect">
            <a:avLst/>
          </a:prstGeom>
          <a:noFill/>
        </p:spPr>
        <p:txBody>
          <a:bodyPr wrap="square" lIns="0" rIns="0" tIns="0" bIns="0" anchor="t">
            <a:spAutoFit/>
          </a:bodyPr>
          <a:lstStyle/>
          <a:p>
            <a:pPr algn="l"/>
            <a:r>
              <a:rPr sz="1600" b="0" i="0">
                <a:solidFill>
                  <a:srgbClr val="665E51"/>
                </a:solidFill>
                <a:latin typeface="Calibri"/>
              </a:rPr>
              <a:t>Pour le producteur qui ne lit pas, n’a pas de smartphone ou n’a pas de réseau</a:t>
            </a:r>
          </a:p>
        </p:txBody>
      </p:sp>
      <p:pic>
        <p:nvPicPr>
          <p:cNvPr id="4" name="Picture 3" descr="ussd.png"/>
          <p:cNvPicPr>
            <a:picLocks noChangeAspect="1"/>
          </p:cNvPicPr>
          <p:nvPr/>
        </p:nvPicPr>
        <p:blipFill>
          <a:blip r:embed="rId2"/>
          <a:stretch>
            <a:fillRect/>
          </a:stretch>
        </p:blipFill>
        <p:spPr>
          <a:xfrm>
            <a:off x="1325880" y="1691640"/>
            <a:ext cx="1521111" cy="3291840"/>
          </a:xfrm>
          <a:prstGeom prst="rect">
            <a:avLst/>
          </a:prstGeom>
          <a:ln w="9525">
            <a:solidFill>
              <a:srgbClr val="E5E1D5"/>
            </a:solidFill>
          </a:ln>
        </p:spPr>
      </p:pic>
      <p:sp>
        <p:nvSpPr>
          <p:cNvPr id="5" name="TextBox 4"/>
          <p:cNvSpPr txBox="1"/>
          <p:nvPr/>
        </p:nvSpPr>
        <p:spPr>
          <a:xfrm>
            <a:off x="548640" y="5120640"/>
            <a:ext cx="3566160" cy="411480"/>
          </a:xfrm>
          <a:prstGeom prst="rect">
            <a:avLst/>
          </a:prstGeom>
          <a:noFill/>
        </p:spPr>
        <p:txBody>
          <a:bodyPr wrap="square" lIns="0" rIns="0" tIns="0" bIns="0" anchor="t">
            <a:spAutoFit/>
          </a:bodyPr>
          <a:lstStyle/>
          <a:p>
            <a:pPr algn="l"/>
            <a:r>
              <a:rPr sz="2000" b="1" i="0">
                <a:solidFill>
                  <a:srgbClr val="007A4A"/>
                </a:solidFill>
                <a:latin typeface="Cambria"/>
              </a:rPr>
              <a:t>USSD</a:t>
            </a:r>
          </a:p>
        </p:txBody>
      </p:sp>
      <p:sp>
        <p:nvSpPr>
          <p:cNvPr id="6" name="TextBox 5"/>
          <p:cNvSpPr txBox="1"/>
          <p:nvPr/>
        </p:nvSpPr>
        <p:spPr>
          <a:xfrm>
            <a:off x="548640" y="5532120"/>
            <a:ext cx="3566160" cy="822960"/>
          </a:xfrm>
          <a:prstGeom prst="rect">
            <a:avLst/>
          </a:prstGeom>
          <a:noFill/>
        </p:spPr>
        <p:txBody>
          <a:bodyPr wrap="square" lIns="0" rIns="0" tIns="0" bIns="0" anchor="t">
            <a:spAutoFit/>
          </a:bodyPr>
          <a:lstStyle/>
          <a:p>
            <a:pPr algn="l"/>
            <a:r>
              <a:rPr sz="1300" b="0" i="0">
                <a:solidFill>
                  <a:srgbClr val="665E51"/>
                </a:solidFill>
                <a:latin typeface="Calibri"/>
              </a:rPr>
              <a:t>Menu de 5 entrées, 182 caractères, sur tout téléphone. Semer ? signaler, vérifier un pesticide, prix, confirmer une alerte.</a:t>
            </a:r>
          </a:p>
        </p:txBody>
      </p:sp>
      <p:pic>
        <p:nvPicPr>
          <p:cNvPr id="7" name="Picture 6" descr="producer.png"/>
          <p:cNvPicPr>
            <a:picLocks noChangeAspect="1"/>
          </p:cNvPicPr>
          <p:nvPr/>
        </p:nvPicPr>
        <p:blipFill>
          <a:blip r:embed="rId3"/>
          <a:stretch>
            <a:fillRect/>
          </a:stretch>
        </p:blipFill>
        <p:spPr>
          <a:xfrm>
            <a:off x="5120640" y="1691640"/>
            <a:ext cx="1521111" cy="3291840"/>
          </a:xfrm>
          <a:prstGeom prst="rect">
            <a:avLst/>
          </a:prstGeom>
          <a:ln w="9525">
            <a:solidFill>
              <a:srgbClr val="E5E1D5"/>
            </a:solidFill>
          </a:ln>
        </p:spPr>
      </p:pic>
      <p:sp>
        <p:nvSpPr>
          <p:cNvPr id="8" name="TextBox 7"/>
          <p:cNvSpPr txBox="1"/>
          <p:nvPr/>
        </p:nvSpPr>
        <p:spPr>
          <a:xfrm>
            <a:off x="4343400" y="5120640"/>
            <a:ext cx="3566160" cy="411480"/>
          </a:xfrm>
          <a:prstGeom prst="rect">
            <a:avLst/>
          </a:prstGeom>
          <a:noFill/>
        </p:spPr>
        <p:txBody>
          <a:bodyPr wrap="square" lIns="0" rIns="0" tIns="0" bIns="0" anchor="t">
            <a:spAutoFit/>
          </a:bodyPr>
          <a:lstStyle/>
          <a:p>
            <a:pPr algn="l"/>
            <a:r>
              <a:rPr sz="2000" b="1" i="0">
                <a:solidFill>
                  <a:srgbClr val="007A4A"/>
                </a:solidFill>
                <a:latin typeface="Cambria"/>
              </a:rPr>
              <a:t>Pictos et voix humaine</a:t>
            </a:r>
          </a:p>
        </p:txBody>
      </p:sp>
      <p:sp>
        <p:nvSpPr>
          <p:cNvPr id="9" name="TextBox 8"/>
          <p:cNvSpPr txBox="1"/>
          <p:nvPr/>
        </p:nvSpPr>
        <p:spPr>
          <a:xfrm>
            <a:off x="4343400" y="5532120"/>
            <a:ext cx="3566160" cy="822960"/>
          </a:xfrm>
          <a:prstGeom prst="rect">
            <a:avLst/>
          </a:prstGeom>
          <a:noFill/>
        </p:spPr>
        <p:txBody>
          <a:bodyPr wrap="square" lIns="0" rIns="0" tIns="0" bIns="0" anchor="t">
            <a:spAutoFit/>
          </a:bodyPr>
          <a:lstStyle/>
          <a:p>
            <a:pPr algn="l"/>
            <a:r>
              <a:rPr sz="1300" b="0" i="0">
                <a:solidFill>
                  <a:srgbClr val="665E51"/>
                </a:solidFill>
                <a:latin typeface="Calibri"/>
              </a:rPr>
              <a:t>Chaque culture et chaque symptôme a son image. Les fiches se lisent en pictogrammes ; en langue locale, c’est la voix du conseiller, enregistrée depuis son téléphone.</a:t>
            </a:r>
          </a:p>
        </p:txBody>
      </p:sp>
      <p:pic>
        <p:nvPicPr>
          <p:cNvPr id="10" name="Picture 9" descr="report-dark.png"/>
          <p:cNvPicPr>
            <a:picLocks noChangeAspect="1"/>
          </p:cNvPicPr>
          <p:nvPr/>
        </p:nvPicPr>
        <p:blipFill>
          <a:blip r:embed="rId4"/>
          <a:stretch>
            <a:fillRect/>
          </a:stretch>
        </p:blipFill>
        <p:spPr>
          <a:xfrm>
            <a:off x="8915400" y="1691640"/>
            <a:ext cx="1521111" cy="3291840"/>
          </a:xfrm>
          <a:prstGeom prst="rect">
            <a:avLst/>
          </a:prstGeom>
          <a:ln w="9525">
            <a:solidFill>
              <a:srgbClr val="E5E1D5"/>
            </a:solidFill>
          </a:ln>
        </p:spPr>
      </p:pic>
      <p:sp>
        <p:nvSpPr>
          <p:cNvPr id="11" name="TextBox 10"/>
          <p:cNvSpPr txBox="1"/>
          <p:nvPr/>
        </p:nvSpPr>
        <p:spPr>
          <a:xfrm>
            <a:off x="8138160" y="5120640"/>
            <a:ext cx="3566160" cy="411480"/>
          </a:xfrm>
          <a:prstGeom prst="rect">
            <a:avLst/>
          </a:prstGeom>
          <a:noFill/>
        </p:spPr>
        <p:txBody>
          <a:bodyPr wrap="square" lIns="0" rIns="0" tIns="0" bIns="0" anchor="t">
            <a:spAutoFit/>
          </a:bodyPr>
          <a:lstStyle/>
          <a:p>
            <a:pPr algn="l"/>
            <a:r>
              <a:rPr sz="2000" b="1" i="0">
                <a:solidFill>
                  <a:srgbClr val="007A4A"/>
                </a:solidFill>
                <a:latin typeface="Cambria"/>
              </a:rPr>
              <a:t>Hors ligne</a:t>
            </a:r>
          </a:p>
        </p:txBody>
      </p:sp>
      <p:sp>
        <p:nvSpPr>
          <p:cNvPr id="12" name="TextBox 11"/>
          <p:cNvSpPr txBox="1"/>
          <p:nvPr/>
        </p:nvSpPr>
        <p:spPr>
          <a:xfrm>
            <a:off x="8138160" y="5532120"/>
            <a:ext cx="3566160" cy="822960"/>
          </a:xfrm>
          <a:prstGeom prst="rect">
            <a:avLst/>
          </a:prstGeom>
          <a:noFill/>
        </p:spPr>
        <p:txBody>
          <a:bodyPr wrap="square" lIns="0" rIns="0" tIns="0" bIns="0" anchor="t">
            <a:spAutoFit/>
          </a:bodyPr>
          <a:lstStyle/>
          <a:p>
            <a:pPr algn="l"/>
            <a:r>
              <a:rPr sz="1300" b="0" i="0">
                <a:solidFill>
                  <a:srgbClr val="665E51"/>
                </a:solidFill>
                <a:latin typeface="Calibri"/>
              </a:rPr>
              <a:t>Application installable ; signalements, offres et encaissements partent seuls au retour du réseau, sans doublon.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t">
            <a:spAutoFit/>
          </a:bodyPr>
          <a:lstStyle/>
          <a:p>
            <a:pPr algn="l"/>
            <a:r>
              <a:rPr sz="3400" b="1" i="0">
                <a:solidFill>
                  <a:srgbClr val="26211A"/>
                </a:solidFill>
                <a:latin typeface="Cambria"/>
              </a:rPr>
              <a:t>Un monitoring qui ferme la boucle</a:t>
            </a:r>
          </a:p>
        </p:txBody>
      </p:sp>
      <p:sp>
        <p:nvSpPr>
          <p:cNvPr id="3" name="TextBox 2"/>
          <p:cNvSpPr txBox="1"/>
          <p:nvPr/>
        </p:nvSpPr>
        <p:spPr>
          <a:xfrm>
            <a:off x="548640" y="1097280"/>
            <a:ext cx="11064240" cy="457200"/>
          </a:xfrm>
          <a:prstGeom prst="rect">
            <a:avLst/>
          </a:prstGeom>
          <a:noFill/>
        </p:spPr>
        <p:txBody>
          <a:bodyPr wrap="square" lIns="0" rIns="0" tIns="0" bIns="0" anchor="t">
            <a:spAutoFit/>
          </a:bodyPr>
          <a:lstStyle/>
          <a:p>
            <a:pPr algn="l"/>
            <a:r>
              <a:rPr sz="1600" b="0" i="0">
                <a:solidFill>
                  <a:srgbClr val="665E51"/>
                </a:solidFill>
                <a:latin typeface="Calibri"/>
              </a:rPr>
              <a:t>Une alerte n’existe que si on sait qu’elle a été lue et suivie d’effet</a:t>
            </a:r>
          </a:p>
        </p:txBody>
      </p:sp>
      <p:sp>
        <p:nvSpPr>
          <p:cNvPr id="4" name="Oval 3"/>
          <p:cNvSpPr/>
          <p:nvPr/>
        </p:nvSpPr>
        <p:spPr>
          <a:xfrm>
            <a:off x="1115568" y="1783080"/>
            <a:ext cx="685800" cy="685800"/>
          </a:xfrm>
          <a:prstGeom prst="ellipse">
            <a:avLst/>
          </a:prstGeom>
          <a:solidFill>
            <a:srgbClr val="007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1</a:t>
            </a:r>
          </a:p>
        </p:txBody>
      </p:sp>
      <p:sp>
        <p:nvSpPr>
          <p:cNvPr id="5" name="TextBox 4"/>
          <p:cNvSpPr txBox="1"/>
          <p:nvPr/>
        </p:nvSpPr>
        <p:spPr>
          <a:xfrm>
            <a:off x="548640" y="2606040"/>
            <a:ext cx="1783080" cy="411480"/>
          </a:xfrm>
          <a:prstGeom prst="rect">
            <a:avLst/>
          </a:prstGeom>
          <a:noFill/>
        </p:spPr>
        <p:txBody>
          <a:bodyPr wrap="square" lIns="0" rIns="0" tIns="0" bIns="0" anchor="t">
            <a:spAutoFit/>
          </a:bodyPr>
          <a:lstStyle/>
          <a:p>
            <a:pPr algn="ctr"/>
            <a:r>
              <a:rPr sz="1800" b="1" i="0">
                <a:solidFill>
                  <a:srgbClr val="26211A"/>
                </a:solidFill>
                <a:latin typeface="Cambria"/>
              </a:rPr>
              <a:t>Observer</a:t>
            </a:r>
          </a:p>
        </p:txBody>
      </p:sp>
      <p:sp>
        <p:nvSpPr>
          <p:cNvPr id="6" name="TextBox 5"/>
          <p:cNvSpPr txBox="1"/>
          <p:nvPr/>
        </p:nvSpPr>
        <p:spPr>
          <a:xfrm>
            <a:off x="548640" y="3017520"/>
            <a:ext cx="1783080" cy="914400"/>
          </a:xfrm>
          <a:prstGeom prst="rect">
            <a:avLst/>
          </a:prstGeom>
          <a:noFill/>
        </p:spPr>
        <p:txBody>
          <a:bodyPr wrap="square" lIns="0" rIns="0" tIns="0" bIns="0" anchor="t">
            <a:spAutoFit/>
          </a:bodyPr>
          <a:lstStyle/>
          <a:p>
            <a:pPr algn="ctr"/>
            <a:r>
              <a:rPr sz="1300" b="0" i="0">
                <a:solidFill>
                  <a:srgbClr val="665E51"/>
                </a:solidFill>
                <a:latin typeface="Calibri"/>
              </a:rPr>
              <a:t>météo réelle des 77 communes, signalements terrain</a:t>
            </a:r>
          </a:p>
        </p:txBody>
      </p:sp>
      <p:sp>
        <p:nvSpPr>
          <p:cNvPr id="7" name="Oval 6"/>
          <p:cNvSpPr/>
          <p:nvPr/>
        </p:nvSpPr>
        <p:spPr>
          <a:xfrm>
            <a:off x="3017520" y="1783080"/>
            <a:ext cx="685800" cy="685800"/>
          </a:xfrm>
          <a:prstGeom prst="ellipse">
            <a:avLst/>
          </a:prstGeom>
          <a:solidFill>
            <a:srgbClr val="007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2</a:t>
            </a:r>
          </a:p>
        </p:txBody>
      </p:sp>
      <p:sp>
        <p:nvSpPr>
          <p:cNvPr id="8" name="TextBox 7"/>
          <p:cNvSpPr txBox="1"/>
          <p:nvPr/>
        </p:nvSpPr>
        <p:spPr>
          <a:xfrm>
            <a:off x="2450592" y="2606040"/>
            <a:ext cx="1783080" cy="411480"/>
          </a:xfrm>
          <a:prstGeom prst="rect">
            <a:avLst/>
          </a:prstGeom>
          <a:noFill/>
        </p:spPr>
        <p:txBody>
          <a:bodyPr wrap="square" lIns="0" rIns="0" tIns="0" bIns="0" anchor="t">
            <a:spAutoFit/>
          </a:bodyPr>
          <a:lstStyle/>
          <a:p>
            <a:pPr algn="ctr"/>
            <a:r>
              <a:rPr sz="1800" b="1" i="0">
                <a:solidFill>
                  <a:srgbClr val="26211A"/>
                </a:solidFill>
                <a:latin typeface="Cambria"/>
              </a:rPr>
              <a:t>Valider</a:t>
            </a:r>
          </a:p>
        </p:txBody>
      </p:sp>
      <p:sp>
        <p:nvSpPr>
          <p:cNvPr id="9" name="TextBox 8"/>
          <p:cNvSpPr txBox="1"/>
          <p:nvPr/>
        </p:nvSpPr>
        <p:spPr>
          <a:xfrm>
            <a:off x="2450592" y="3017520"/>
            <a:ext cx="1783080" cy="914400"/>
          </a:xfrm>
          <a:prstGeom prst="rect">
            <a:avLst/>
          </a:prstGeom>
          <a:noFill/>
        </p:spPr>
        <p:txBody>
          <a:bodyPr wrap="square" lIns="0" rIns="0" tIns="0" bIns="0" anchor="t">
            <a:spAutoFit/>
          </a:bodyPr>
          <a:lstStyle/>
          <a:p>
            <a:pPr algn="ctr"/>
            <a:r>
              <a:rPr sz="1300" b="0" i="0">
                <a:solidFill>
                  <a:srgbClr val="665E51"/>
                </a:solidFill>
                <a:latin typeface="Calibri"/>
              </a:rPr>
              <a:t>un agent ATDA confirme, jamais d’alerte non vérifiée</a:t>
            </a:r>
          </a:p>
        </p:txBody>
      </p:sp>
      <p:sp>
        <p:nvSpPr>
          <p:cNvPr id="10" name="Oval 9"/>
          <p:cNvSpPr/>
          <p:nvPr/>
        </p:nvSpPr>
        <p:spPr>
          <a:xfrm>
            <a:off x="4919472" y="1783080"/>
            <a:ext cx="685800" cy="685800"/>
          </a:xfrm>
          <a:prstGeom prst="ellipse">
            <a:avLst/>
          </a:prstGeom>
          <a:solidFill>
            <a:srgbClr val="007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3</a:t>
            </a:r>
          </a:p>
        </p:txBody>
      </p:sp>
      <p:sp>
        <p:nvSpPr>
          <p:cNvPr id="11" name="TextBox 10"/>
          <p:cNvSpPr txBox="1"/>
          <p:nvPr/>
        </p:nvSpPr>
        <p:spPr>
          <a:xfrm>
            <a:off x="4352544" y="2606040"/>
            <a:ext cx="1783080" cy="411480"/>
          </a:xfrm>
          <a:prstGeom prst="rect">
            <a:avLst/>
          </a:prstGeom>
          <a:noFill/>
        </p:spPr>
        <p:txBody>
          <a:bodyPr wrap="square" lIns="0" rIns="0" tIns="0" bIns="0" anchor="t">
            <a:spAutoFit/>
          </a:bodyPr>
          <a:lstStyle/>
          <a:p>
            <a:pPr algn="ctr"/>
            <a:r>
              <a:rPr sz="1800" b="1" i="0">
                <a:solidFill>
                  <a:srgbClr val="26211A"/>
                </a:solidFill>
                <a:latin typeface="Cambria"/>
              </a:rPr>
              <a:t>Alerter</a:t>
            </a:r>
          </a:p>
        </p:txBody>
      </p:sp>
      <p:sp>
        <p:nvSpPr>
          <p:cNvPr id="12" name="TextBox 11"/>
          <p:cNvSpPr txBox="1"/>
          <p:nvPr/>
        </p:nvSpPr>
        <p:spPr>
          <a:xfrm>
            <a:off x="4352544" y="3017520"/>
            <a:ext cx="1783080" cy="914400"/>
          </a:xfrm>
          <a:prstGeom prst="rect">
            <a:avLst/>
          </a:prstGeom>
          <a:noFill/>
        </p:spPr>
        <p:txBody>
          <a:bodyPr wrap="square" lIns="0" rIns="0" tIns="0" bIns="0" anchor="t">
            <a:spAutoFit/>
          </a:bodyPr>
          <a:lstStyle/>
          <a:p>
            <a:pPr algn="ctr"/>
            <a:r>
              <a:rPr sz="1300" b="0" i="0">
                <a:solidFill>
                  <a:srgbClr val="665E51"/>
                </a:solidFill>
                <a:latin typeface="Calibri"/>
              </a:rPr>
              <a:t>SMS à la commune et aux 5 communes voisines</a:t>
            </a:r>
          </a:p>
        </p:txBody>
      </p:sp>
      <p:sp>
        <p:nvSpPr>
          <p:cNvPr id="13" name="Oval 12"/>
          <p:cNvSpPr/>
          <p:nvPr/>
        </p:nvSpPr>
        <p:spPr>
          <a:xfrm>
            <a:off x="6821424" y="1783080"/>
            <a:ext cx="685800" cy="685800"/>
          </a:xfrm>
          <a:prstGeom prst="ellipse">
            <a:avLst/>
          </a:prstGeom>
          <a:solidFill>
            <a:srgbClr val="007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4</a:t>
            </a:r>
          </a:p>
        </p:txBody>
      </p:sp>
      <p:sp>
        <p:nvSpPr>
          <p:cNvPr id="14" name="TextBox 13"/>
          <p:cNvSpPr txBox="1"/>
          <p:nvPr/>
        </p:nvSpPr>
        <p:spPr>
          <a:xfrm>
            <a:off x="6254496" y="2606040"/>
            <a:ext cx="1783080" cy="411480"/>
          </a:xfrm>
          <a:prstGeom prst="rect">
            <a:avLst/>
          </a:prstGeom>
          <a:noFill/>
        </p:spPr>
        <p:txBody>
          <a:bodyPr wrap="square" lIns="0" rIns="0" tIns="0" bIns="0" anchor="t">
            <a:spAutoFit/>
          </a:bodyPr>
          <a:lstStyle/>
          <a:p>
            <a:pPr algn="ctr"/>
            <a:r>
              <a:rPr sz="1800" b="1" i="0">
                <a:solidFill>
                  <a:srgbClr val="26211A"/>
                </a:solidFill>
                <a:latin typeface="Cambria"/>
              </a:rPr>
              <a:t>Lire</a:t>
            </a:r>
          </a:p>
        </p:txBody>
      </p:sp>
      <p:sp>
        <p:nvSpPr>
          <p:cNvPr id="15" name="TextBox 14"/>
          <p:cNvSpPr txBox="1"/>
          <p:nvPr/>
        </p:nvSpPr>
        <p:spPr>
          <a:xfrm>
            <a:off x="6254496" y="3017520"/>
            <a:ext cx="1783080" cy="914400"/>
          </a:xfrm>
          <a:prstGeom prst="rect">
            <a:avLst/>
          </a:prstGeom>
          <a:noFill/>
        </p:spPr>
        <p:txBody>
          <a:bodyPr wrap="square" lIns="0" rIns="0" tIns="0" bIns="0" anchor="t">
            <a:spAutoFit/>
          </a:bodyPr>
          <a:lstStyle/>
          <a:p>
            <a:pPr algn="ctr"/>
            <a:r>
              <a:rPr sz="1300" b="0" i="0">
                <a:solidFill>
                  <a:srgbClr val="665E51"/>
                </a:solidFill>
                <a:latin typeface="Calibri"/>
              </a:rPr>
              <a:t>« j’ai lu » par l’application ou l’USSD</a:t>
            </a:r>
          </a:p>
        </p:txBody>
      </p:sp>
      <p:sp>
        <p:nvSpPr>
          <p:cNvPr id="16" name="Oval 15"/>
          <p:cNvSpPr/>
          <p:nvPr/>
        </p:nvSpPr>
        <p:spPr>
          <a:xfrm>
            <a:off x="8723376" y="1783080"/>
            <a:ext cx="685800" cy="685800"/>
          </a:xfrm>
          <a:prstGeom prst="ellipse">
            <a:avLst/>
          </a:prstGeom>
          <a:solidFill>
            <a:srgbClr val="007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5</a:t>
            </a:r>
          </a:p>
        </p:txBody>
      </p:sp>
      <p:sp>
        <p:nvSpPr>
          <p:cNvPr id="17" name="TextBox 16"/>
          <p:cNvSpPr txBox="1"/>
          <p:nvPr/>
        </p:nvSpPr>
        <p:spPr>
          <a:xfrm>
            <a:off x="8156448" y="2606040"/>
            <a:ext cx="1783080" cy="411480"/>
          </a:xfrm>
          <a:prstGeom prst="rect">
            <a:avLst/>
          </a:prstGeom>
          <a:noFill/>
        </p:spPr>
        <p:txBody>
          <a:bodyPr wrap="square" lIns="0" rIns="0" tIns="0" bIns="0" anchor="t">
            <a:spAutoFit/>
          </a:bodyPr>
          <a:lstStyle/>
          <a:p>
            <a:pPr algn="ctr"/>
            <a:r>
              <a:rPr sz="1800" b="1" i="0">
                <a:solidFill>
                  <a:srgbClr val="26211A"/>
                </a:solidFill>
                <a:latin typeface="Cambria"/>
              </a:rPr>
              <a:t>Agir</a:t>
            </a:r>
          </a:p>
        </p:txBody>
      </p:sp>
      <p:sp>
        <p:nvSpPr>
          <p:cNvPr id="18" name="TextBox 17"/>
          <p:cNvSpPr txBox="1"/>
          <p:nvPr/>
        </p:nvSpPr>
        <p:spPr>
          <a:xfrm>
            <a:off x="8156448" y="3017520"/>
            <a:ext cx="1783080" cy="914400"/>
          </a:xfrm>
          <a:prstGeom prst="rect">
            <a:avLst/>
          </a:prstGeom>
          <a:noFill/>
        </p:spPr>
        <p:txBody>
          <a:bodyPr wrap="square" lIns="0" rIns="0" tIns="0" bIns="0" anchor="t">
            <a:spAutoFit/>
          </a:bodyPr>
          <a:lstStyle/>
          <a:p>
            <a:pPr algn="ctr"/>
            <a:r>
              <a:rPr sz="1300" b="0" i="0">
                <a:solidFill>
                  <a:srgbClr val="665E51"/>
                </a:solidFill>
                <a:latin typeface="Calibri"/>
              </a:rPr>
              <a:t>« j’ai agi » : l’action est déclarée</a:t>
            </a:r>
          </a:p>
        </p:txBody>
      </p:sp>
      <p:sp>
        <p:nvSpPr>
          <p:cNvPr id="19" name="Oval 18"/>
          <p:cNvSpPr/>
          <p:nvPr/>
        </p:nvSpPr>
        <p:spPr>
          <a:xfrm>
            <a:off x="10625328" y="1783080"/>
            <a:ext cx="685800" cy="685800"/>
          </a:xfrm>
          <a:prstGeom prst="ellipse">
            <a:avLst/>
          </a:prstGeom>
          <a:solidFill>
            <a:srgbClr val="007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6</a:t>
            </a:r>
          </a:p>
        </p:txBody>
      </p:sp>
      <p:sp>
        <p:nvSpPr>
          <p:cNvPr id="20" name="TextBox 19"/>
          <p:cNvSpPr txBox="1"/>
          <p:nvPr/>
        </p:nvSpPr>
        <p:spPr>
          <a:xfrm>
            <a:off x="10058400" y="2606040"/>
            <a:ext cx="1783080" cy="411480"/>
          </a:xfrm>
          <a:prstGeom prst="rect">
            <a:avLst/>
          </a:prstGeom>
          <a:noFill/>
        </p:spPr>
        <p:txBody>
          <a:bodyPr wrap="square" lIns="0" rIns="0" tIns="0" bIns="0" anchor="t">
            <a:spAutoFit/>
          </a:bodyPr>
          <a:lstStyle/>
          <a:p>
            <a:pPr algn="ctr"/>
            <a:r>
              <a:rPr sz="1800" b="1" i="0">
                <a:solidFill>
                  <a:srgbClr val="26211A"/>
                </a:solidFill>
                <a:latin typeface="Cambria"/>
              </a:rPr>
              <a:t>Clore</a:t>
            </a:r>
          </a:p>
        </p:txBody>
      </p:sp>
      <p:sp>
        <p:nvSpPr>
          <p:cNvPr id="21" name="TextBox 20"/>
          <p:cNvSpPr txBox="1"/>
          <p:nvPr/>
        </p:nvSpPr>
        <p:spPr>
          <a:xfrm>
            <a:off x="10058400" y="3017520"/>
            <a:ext cx="1783080" cy="914400"/>
          </a:xfrm>
          <a:prstGeom prst="rect">
            <a:avLst/>
          </a:prstGeom>
          <a:noFill/>
        </p:spPr>
        <p:txBody>
          <a:bodyPr wrap="square" lIns="0" rIns="0" tIns="0" bIns="0" anchor="t">
            <a:spAutoFit/>
          </a:bodyPr>
          <a:lstStyle/>
          <a:p>
            <a:pPr algn="ctr"/>
            <a:r>
              <a:rPr sz="1300" b="0" i="0">
                <a:solidFill>
                  <a:srgbClr val="665E51"/>
                </a:solidFill>
                <a:latin typeface="Calibri"/>
              </a:rPr>
              <a:t>délais mesurés, de bout en bout</a:t>
            </a:r>
          </a:p>
        </p:txBody>
      </p:sp>
      <p:pic>
        <p:nvPicPr>
          <p:cNvPr id="22" name="Picture 21" descr="dashboard.png"/>
          <p:cNvPicPr>
            <a:picLocks noChangeAspect="1"/>
          </p:cNvPicPr>
          <p:nvPr/>
        </p:nvPicPr>
        <p:blipFill>
          <a:blip r:embed="rId2"/>
          <a:stretch>
            <a:fillRect/>
          </a:stretch>
        </p:blipFill>
        <p:spPr>
          <a:xfrm>
            <a:off x="2011680" y="3977639"/>
            <a:ext cx="3730752" cy="2331720"/>
          </a:xfrm>
          <a:prstGeom prst="rect">
            <a:avLst/>
          </a:prstGeom>
          <a:ln w="9525">
            <a:solidFill>
              <a:srgbClr val="E5E1D5"/>
            </a:solidFill>
          </a:ln>
        </p:spPr>
      </p:pic>
      <p:sp>
        <p:nvSpPr>
          <p:cNvPr id="23" name="TextBox 22"/>
          <p:cNvSpPr txBox="1"/>
          <p:nvPr/>
        </p:nvSpPr>
        <p:spPr>
          <a:xfrm>
            <a:off x="7589520" y="4206240"/>
            <a:ext cx="4023360" cy="2011680"/>
          </a:xfrm>
          <a:prstGeom prst="rect">
            <a:avLst/>
          </a:prstGeom>
          <a:noFill/>
        </p:spPr>
        <p:txBody>
          <a:bodyPr wrap="square" lIns="0" rIns="0" tIns="0" bIns="0" anchor="t">
            <a:spAutoFit/>
          </a:bodyPr>
          <a:lstStyle/>
          <a:p>
            <a:pPr algn="l"/>
            <a:r>
              <a:rPr sz="1400" b="1" i="0">
                <a:solidFill>
                  <a:srgbClr val="26211A"/>
                </a:solidFill>
                <a:latin typeface="Calibri"/>
              </a:rPr>
              <a:t>Mesuré, pas supposé : </a:t>
            </a:r>
            <a:r>
              <a:rPr sz="1400" b="0" i="0">
                <a:solidFill>
                  <a:srgbClr val="26211A"/>
                </a:solidFill>
                <a:latin typeface="Calibri"/>
              </a:rPr>
              <a:t>envoyés, lus, actions, délai entre le premier signal et l’alerte, et entre l’alerte et sa clôture. Un envoi SMS qui échoue est retenté trois fois sans bloquer les autres.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t">
            <a:spAutoFit/>
          </a:bodyPr>
          <a:lstStyle/>
          <a:p>
            <a:pPr algn="l"/>
            <a:r>
              <a:rPr sz="3400" b="1" i="0">
                <a:solidFill>
                  <a:srgbClr val="26211A"/>
                </a:solidFill>
                <a:latin typeface="Cambria"/>
              </a:rPr>
              <a:t>Au-delà de la fiche : quatre vrais problèmes</a:t>
            </a:r>
          </a:p>
        </p:txBody>
      </p:sp>
      <p:sp>
        <p:nvSpPr>
          <p:cNvPr id="3" name="TextBox 2"/>
          <p:cNvSpPr txBox="1"/>
          <p:nvPr/>
        </p:nvSpPr>
        <p:spPr>
          <a:xfrm>
            <a:off x="548640" y="1097280"/>
            <a:ext cx="11064240" cy="457200"/>
          </a:xfrm>
          <a:prstGeom prst="rect">
            <a:avLst/>
          </a:prstGeom>
          <a:noFill/>
        </p:spPr>
        <p:txBody>
          <a:bodyPr wrap="square" lIns="0" rIns="0" tIns="0" bIns="0" anchor="t">
            <a:spAutoFit/>
          </a:bodyPr>
          <a:lstStyle/>
          <a:p>
            <a:pPr algn="l"/>
            <a:r>
              <a:rPr sz="1600" b="0" i="0">
                <a:solidFill>
                  <a:srgbClr val="665E51"/>
                </a:solidFill>
                <a:latin typeface="Calibri"/>
              </a:rPr>
              <a:t>Même donnée, même moteur, peu de code en plus</a:t>
            </a:r>
          </a:p>
        </p:txBody>
      </p:sp>
      <p:sp>
        <p:nvSpPr>
          <p:cNvPr id="4" name="Rounded Rectangle 3"/>
          <p:cNvSpPr/>
          <p:nvPr/>
        </p:nvSpPr>
        <p:spPr>
          <a:xfrm>
            <a:off x="548640" y="1737360"/>
            <a:ext cx="2926080" cy="2057400"/>
          </a:xfrm>
          <a:prstGeom prst="roundRect">
            <a:avLst>
              <a:gd name="adj" fmla="val 8000"/>
            </a:avLst>
          </a:prstGeom>
          <a:solidFill>
            <a:srgbClr val="E0F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1965960"/>
            <a:ext cx="457200" cy="457200"/>
          </a:xfrm>
          <a:prstGeom prst="ellipse">
            <a:avLst/>
          </a:prstGeom>
          <a:solidFill>
            <a:srgbClr val="007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
            </a:r>
          </a:p>
        </p:txBody>
      </p:sp>
      <p:sp>
        <p:nvSpPr>
          <p:cNvPr id="6" name="TextBox 5"/>
          <p:cNvSpPr txBox="1"/>
          <p:nvPr/>
        </p:nvSpPr>
        <p:spPr>
          <a:xfrm>
            <a:off x="1371600" y="1993391"/>
            <a:ext cx="2011680" cy="457200"/>
          </a:xfrm>
          <a:prstGeom prst="rect">
            <a:avLst/>
          </a:prstGeom>
          <a:noFill/>
        </p:spPr>
        <p:txBody>
          <a:bodyPr wrap="square" lIns="0" rIns="0" tIns="0" bIns="0" anchor="t">
            <a:spAutoFit/>
          </a:bodyPr>
          <a:lstStyle/>
          <a:p>
            <a:pPr algn="l"/>
            <a:r>
              <a:rPr sz="1700" b="1" i="0">
                <a:solidFill>
                  <a:srgbClr val="26211A"/>
                </a:solidFill>
                <a:latin typeface="Cambria"/>
              </a:rPr>
              <a:t>Aflatoxines</a:t>
            </a:r>
          </a:p>
        </p:txBody>
      </p:sp>
      <p:sp>
        <p:nvSpPr>
          <p:cNvPr id="7" name="TextBox 6"/>
          <p:cNvSpPr txBox="1"/>
          <p:nvPr/>
        </p:nvSpPr>
        <p:spPr>
          <a:xfrm>
            <a:off x="777240" y="2560320"/>
            <a:ext cx="2514600" cy="1188720"/>
          </a:xfrm>
          <a:prstGeom prst="rect">
            <a:avLst/>
          </a:prstGeom>
          <a:noFill/>
        </p:spPr>
        <p:txBody>
          <a:bodyPr wrap="square" lIns="0" rIns="0" tIns="0" bIns="0" anchor="t">
            <a:spAutoFit/>
          </a:bodyPr>
          <a:lstStyle/>
          <a:p>
            <a:pPr algn="l"/>
            <a:r>
              <a:rPr sz="1300" b="0" i="0">
                <a:solidFill>
                  <a:srgbClr val="665E51"/>
                </a:solidFill>
                <a:latin typeface="Calibri"/>
              </a:rPr>
              <a:t>Après la récolte, la prévision d’humidité dit « séchez maintenant », « couvrez » ou « séchage possible ».</a:t>
            </a:r>
          </a:p>
        </p:txBody>
      </p:sp>
      <p:sp>
        <p:nvSpPr>
          <p:cNvPr id="8" name="Rounded Rectangle 7"/>
          <p:cNvSpPr/>
          <p:nvPr/>
        </p:nvSpPr>
        <p:spPr>
          <a:xfrm>
            <a:off x="3657600" y="1737360"/>
            <a:ext cx="2926080" cy="2057400"/>
          </a:xfrm>
          <a:prstGeom prst="roundRect">
            <a:avLst>
              <a:gd name="adj" fmla="val 8000"/>
            </a:avLst>
          </a:prstGeom>
          <a:solidFill>
            <a:srgbClr val="E0F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886200" y="1965960"/>
            <a:ext cx="457200" cy="457200"/>
          </a:xfrm>
          <a:prstGeom prst="ellipse">
            <a:avLst/>
          </a:prstGeom>
          <a:solidFill>
            <a:srgbClr val="C026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
            </a:r>
          </a:p>
        </p:txBody>
      </p:sp>
      <p:sp>
        <p:nvSpPr>
          <p:cNvPr id="10" name="TextBox 9"/>
          <p:cNvSpPr txBox="1"/>
          <p:nvPr/>
        </p:nvSpPr>
        <p:spPr>
          <a:xfrm>
            <a:off x="4480560" y="1993391"/>
            <a:ext cx="2011680" cy="457200"/>
          </a:xfrm>
          <a:prstGeom prst="rect">
            <a:avLst/>
          </a:prstGeom>
          <a:noFill/>
        </p:spPr>
        <p:txBody>
          <a:bodyPr wrap="square" lIns="0" rIns="0" tIns="0" bIns="0" anchor="t">
            <a:spAutoFit/>
          </a:bodyPr>
          <a:lstStyle/>
          <a:p>
            <a:pPr algn="l"/>
            <a:r>
              <a:rPr sz="1700" b="1" i="0">
                <a:solidFill>
                  <a:srgbClr val="26211A"/>
                </a:solidFill>
                <a:latin typeface="Cambria"/>
              </a:rPr>
              <a:t>Pesticides</a:t>
            </a:r>
          </a:p>
        </p:txBody>
      </p:sp>
      <p:sp>
        <p:nvSpPr>
          <p:cNvPr id="11" name="TextBox 10"/>
          <p:cNvSpPr txBox="1"/>
          <p:nvPr/>
        </p:nvSpPr>
        <p:spPr>
          <a:xfrm>
            <a:off x="3886200" y="2560320"/>
            <a:ext cx="2514600" cy="1188720"/>
          </a:xfrm>
          <a:prstGeom prst="rect">
            <a:avLst/>
          </a:prstGeom>
          <a:noFill/>
        </p:spPr>
        <p:txBody>
          <a:bodyPr wrap="square" lIns="0" rIns="0" tIns="0" bIns="0" anchor="t">
            <a:spAutoFit/>
          </a:bodyPr>
          <a:lstStyle/>
          <a:p>
            <a:pPr algn="l"/>
            <a:r>
              <a:rPr sz="1300" b="0" i="0">
                <a:solidFill>
                  <a:srgbClr val="665E51"/>
                </a:solidFill>
                <a:latin typeface="Calibri"/>
              </a:rPr>
              <a:t>« Ce produit est-il homologué ? » par USSD. SNIPER, retiré du marché en juillet 2026, répond « non homologué ».</a:t>
            </a:r>
          </a:p>
        </p:txBody>
      </p:sp>
      <p:sp>
        <p:nvSpPr>
          <p:cNvPr id="12" name="Rounded Rectangle 11"/>
          <p:cNvSpPr/>
          <p:nvPr/>
        </p:nvSpPr>
        <p:spPr>
          <a:xfrm>
            <a:off x="548640" y="3977639"/>
            <a:ext cx="2926080" cy="2057400"/>
          </a:xfrm>
          <a:prstGeom prst="roundRect">
            <a:avLst>
              <a:gd name="adj" fmla="val 8000"/>
            </a:avLst>
          </a:prstGeom>
          <a:solidFill>
            <a:srgbClr val="E0F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77240" y="4206240"/>
            <a:ext cx="457200" cy="457200"/>
          </a:xfrm>
          <a:prstGeom prst="ellipse">
            <a:avLst/>
          </a:prstGeom>
          <a:solidFill>
            <a:srgbClr val="007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
            </a:r>
          </a:p>
        </p:txBody>
      </p:sp>
      <p:sp>
        <p:nvSpPr>
          <p:cNvPr id="14" name="TextBox 13"/>
          <p:cNvSpPr txBox="1"/>
          <p:nvPr/>
        </p:nvSpPr>
        <p:spPr>
          <a:xfrm>
            <a:off x="1371600" y="4233672"/>
            <a:ext cx="2011680" cy="457200"/>
          </a:xfrm>
          <a:prstGeom prst="rect">
            <a:avLst/>
          </a:prstGeom>
          <a:noFill/>
        </p:spPr>
        <p:txBody>
          <a:bodyPr wrap="square" lIns="0" rIns="0" tIns="0" bIns="0" anchor="t">
            <a:spAutoFit/>
          </a:bodyPr>
          <a:lstStyle/>
          <a:p>
            <a:pPr algn="l"/>
            <a:r>
              <a:rPr sz="1700" b="1" i="0">
                <a:solidFill>
                  <a:srgbClr val="26211A"/>
                </a:solidFill>
                <a:latin typeface="Cambria"/>
              </a:rPr>
              <a:t>Traçabilité EUDR</a:t>
            </a:r>
          </a:p>
        </p:txBody>
      </p:sp>
      <p:sp>
        <p:nvSpPr>
          <p:cNvPr id="15" name="TextBox 14"/>
          <p:cNvSpPr txBox="1"/>
          <p:nvPr/>
        </p:nvSpPr>
        <p:spPr>
          <a:xfrm>
            <a:off x="777240" y="4800600"/>
            <a:ext cx="2514600" cy="1188720"/>
          </a:xfrm>
          <a:prstGeom prst="rect">
            <a:avLst/>
          </a:prstGeom>
          <a:noFill/>
        </p:spPr>
        <p:txBody>
          <a:bodyPr wrap="square" lIns="0" rIns="0" tIns="0" bIns="0" anchor="t">
            <a:spAutoFit/>
          </a:bodyPr>
          <a:lstStyle/>
          <a:p>
            <a:pPr algn="l"/>
            <a:r>
              <a:rPr sz="1300" b="0" i="0">
                <a:solidFill>
                  <a:srgbClr val="665E51"/>
                </a:solidFill>
                <a:latin typeface="Calibri"/>
              </a:rPr>
              <a:t>Parcelle géolocalisée, lot avec QR : le règlement européen anti-déforestation s’applique au soja fin 2026.</a:t>
            </a:r>
          </a:p>
        </p:txBody>
      </p:sp>
      <p:sp>
        <p:nvSpPr>
          <p:cNvPr id="16" name="Rounded Rectangle 15"/>
          <p:cNvSpPr/>
          <p:nvPr/>
        </p:nvSpPr>
        <p:spPr>
          <a:xfrm>
            <a:off x="3657600" y="3977639"/>
            <a:ext cx="2926080" cy="2057400"/>
          </a:xfrm>
          <a:prstGeom prst="roundRect">
            <a:avLst>
              <a:gd name="adj" fmla="val 8000"/>
            </a:avLst>
          </a:prstGeom>
          <a:solidFill>
            <a:srgbClr val="E0F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886200" y="4206240"/>
            <a:ext cx="457200" cy="457200"/>
          </a:xfrm>
          <a:prstGeom prst="ellipse">
            <a:avLst/>
          </a:prstGeom>
          <a:solidFill>
            <a:srgbClr val="E0A1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
            </a:r>
          </a:p>
        </p:txBody>
      </p:sp>
      <p:sp>
        <p:nvSpPr>
          <p:cNvPr id="18" name="TextBox 17"/>
          <p:cNvSpPr txBox="1"/>
          <p:nvPr/>
        </p:nvSpPr>
        <p:spPr>
          <a:xfrm>
            <a:off x="4480560" y="4233672"/>
            <a:ext cx="2011680" cy="457200"/>
          </a:xfrm>
          <a:prstGeom prst="rect">
            <a:avLst/>
          </a:prstGeom>
          <a:noFill/>
        </p:spPr>
        <p:txBody>
          <a:bodyPr wrap="square" lIns="0" rIns="0" tIns="0" bIns="0" anchor="t">
            <a:spAutoFit/>
          </a:bodyPr>
          <a:lstStyle/>
          <a:p>
            <a:pPr algn="l"/>
            <a:r>
              <a:rPr sz="1700" b="1" i="0">
                <a:solidFill>
                  <a:srgbClr val="26211A"/>
                </a:solidFill>
                <a:latin typeface="Cambria"/>
              </a:rPr>
              <a:t>Assurance indicielle</a:t>
            </a:r>
          </a:p>
        </p:txBody>
      </p:sp>
      <p:sp>
        <p:nvSpPr>
          <p:cNvPr id="19" name="TextBox 18"/>
          <p:cNvSpPr txBox="1"/>
          <p:nvPr/>
        </p:nvSpPr>
        <p:spPr>
          <a:xfrm>
            <a:off x="3886200" y="4800600"/>
            <a:ext cx="2514600" cy="1188720"/>
          </a:xfrm>
          <a:prstGeom prst="rect">
            <a:avLst/>
          </a:prstGeom>
          <a:noFill/>
        </p:spPr>
        <p:txBody>
          <a:bodyPr wrap="square" lIns="0" rIns="0" tIns="0" bIns="0" anchor="t">
            <a:spAutoFit/>
          </a:bodyPr>
          <a:lstStyle/>
          <a:p>
            <a:pPr algn="l"/>
            <a:r>
              <a:rPr sz="1300" b="0" i="0">
                <a:solidFill>
                  <a:srgbClr val="665E51"/>
                </a:solidFill>
                <a:latin typeface="Calibri"/>
              </a:rPr>
              <a:t>Pluie face à l’évapotranspiration par commune : l’indice qu’un assureur pourrait utiliser (simulation).</a:t>
            </a:r>
          </a:p>
        </p:txBody>
      </p:sp>
      <p:pic>
        <p:nvPicPr>
          <p:cNvPr id="20" name="Picture 19" descr="lot.png"/>
          <p:cNvPicPr>
            <a:picLocks noChangeAspect="1"/>
          </p:cNvPicPr>
          <p:nvPr/>
        </p:nvPicPr>
        <p:blipFill>
          <a:blip r:embed="rId2"/>
          <a:stretch>
            <a:fillRect/>
          </a:stretch>
        </p:blipFill>
        <p:spPr>
          <a:xfrm>
            <a:off x="7040880" y="1554480"/>
            <a:ext cx="2154907" cy="4663440"/>
          </a:xfrm>
          <a:prstGeom prst="rect">
            <a:avLst/>
          </a:prstGeom>
          <a:ln w="9525">
            <a:solidFill>
              <a:srgbClr val="E5E1D5"/>
            </a:solidFill>
          </a:ln>
        </p:spPr>
      </p:pic>
      <p:sp>
        <p:nvSpPr>
          <p:cNvPr id="21" name="TextBox 20"/>
          <p:cNvSpPr txBox="1"/>
          <p:nvPr/>
        </p:nvSpPr>
        <p:spPr>
          <a:xfrm>
            <a:off x="9372600" y="2926080"/>
            <a:ext cx="2377440" cy="2286000"/>
          </a:xfrm>
          <a:prstGeom prst="rect">
            <a:avLst/>
          </a:prstGeom>
          <a:noFill/>
        </p:spPr>
        <p:txBody>
          <a:bodyPr wrap="square" lIns="0" rIns="0" tIns="0" bIns="0" anchor="t">
            <a:spAutoFit/>
          </a:bodyPr>
          <a:lstStyle/>
          <a:p>
            <a:pPr algn="l"/>
            <a:r>
              <a:rPr sz="1300" b="0" i="0">
                <a:solidFill>
                  <a:srgbClr val="665E51"/>
                </a:solidFill>
                <a:latin typeface="Calibri"/>
              </a:rPr>
              <a:t>Page publique du lot : origine, humidité, conformité export, géolocalisation, jamais le nom du producteur.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t">
            <a:spAutoFit/>
          </a:bodyPr>
          <a:lstStyle/>
          <a:p>
            <a:pPr algn="l"/>
            <a:r>
              <a:rPr sz="3400" b="1" i="0">
                <a:solidFill>
                  <a:srgbClr val="26211A"/>
                </a:solidFill>
                <a:latin typeface="Cambria"/>
              </a:rPr>
              <a:t>La donnée qui manque à l’agro-industrie</a:t>
            </a:r>
          </a:p>
        </p:txBody>
      </p:sp>
      <p:sp>
        <p:nvSpPr>
          <p:cNvPr id="3" name="TextBox 2"/>
          <p:cNvSpPr txBox="1"/>
          <p:nvPr/>
        </p:nvSpPr>
        <p:spPr>
          <a:xfrm>
            <a:off x="548640" y="1097280"/>
            <a:ext cx="11064240" cy="457200"/>
          </a:xfrm>
          <a:prstGeom prst="rect">
            <a:avLst/>
          </a:prstGeom>
          <a:noFill/>
        </p:spPr>
        <p:txBody>
          <a:bodyPr wrap="square" lIns="0" rIns="0" tIns="0" bIns="0" anchor="t">
            <a:spAutoFit/>
          </a:bodyPr>
          <a:lstStyle/>
          <a:p>
            <a:pPr algn="l"/>
            <a:r>
              <a:rPr sz="1600" b="0" i="0">
                <a:solidFill>
                  <a:srgbClr val="665E51"/>
                </a:solidFill>
                <a:latin typeface="Calibri"/>
              </a:rPr>
              <a:t>Production nationale face aux capacités installées de la GDIZ (tonnes)</a:t>
            </a:r>
          </a:p>
        </p:txBody>
      </p:sp>
      <p:graphicFrame>
        <p:nvGraphicFramePr>
          <p:cNvPr id="4" name="Chart 3"/>
          <p:cNvGraphicFramePr>
            <a:graphicFrameLocks noGrp="1"/>
          </p:cNvGraphicFramePr>
          <p:nvPr/>
        </p:nvGraphicFramePr>
        <p:xfrm>
          <a:off x="548640" y="1645920"/>
          <a:ext cx="6766560" cy="4389120"/>
        </p:xfrm>
        <a:graphic>
          <a:graphicData uri="http://schemas.openxmlformats.org/drawingml/2006/chart">
            <c:chart xmlns:c="http://schemas.openxmlformats.org/drawingml/2006/chart" r:id="rId2"/>
          </a:graphicData>
        </a:graphic>
      </p:graphicFrame>
      <p:sp>
        <p:nvSpPr>
          <p:cNvPr id="5" name="TextBox 4"/>
          <p:cNvSpPr txBox="1"/>
          <p:nvPr/>
        </p:nvSpPr>
        <p:spPr>
          <a:xfrm>
            <a:off x="7680960" y="1828800"/>
            <a:ext cx="3931920" cy="4206240"/>
          </a:xfrm>
          <a:prstGeom prst="rect">
            <a:avLst/>
          </a:prstGeom>
          <a:noFill/>
        </p:spPr>
        <p:txBody>
          <a:bodyPr wrap="square" lIns="0" rIns="0" tIns="0" bIns="0" anchor="t">
            <a:spAutoFit/>
          </a:bodyPr>
          <a:lstStyle/>
          <a:p>
            <a:pPr algn="l">
              <a:spcAft>
                <a:spcPts val="1400"/>
              </a:spcAft>
            </a:pPr>
            <a:r>
              <a:rPr sz="1500" b="1" i="0">
                <a:solidFill>
                  <a:srgbClr val="26211A"/>
                </a:solidFill>
                <a:latin typeface="Calibri"/>
              </a:rPr>
              <a:t>Le décret d’avril 2024 </a:t>
            </a:r>
            <a:r>
              <a:rPr sz="1500" b="0" i="0">
                <a:solidFill>
                  <a:srgbClr val="26211A"/>
                </a:solidFill>
                <a:latin typeface="Calibri"/>
              </a:rPr>
              <a:t>n’autorise l’export du soja et du cajou bruts qu’une fois « les besoins des transformateurs locaux » satisfaits.</a:t>
            </a:r>
          </a:p>
          <a:p>
            <a:pPr algn="l">
              <a:spcAft>
                <a:spcPts val="1400"/>
              </a:spcAft>
            </a:pPr>
            <a:r>
              <a:rPr sz="1500" b="1" i="0">
                <a:solidFill>
                  <a:srgbClr val="26211A"/>
                </a:solidFill>
                <a:latin typeface="Calibri"/>
              </a:rPr>
              <a:t>Personne ne mesure ces besoins depuis le champ. </a:t>
            </a:r>
            <a:r>
              <a:rPr sz="1500" b="0" i="0">
                <a:solidFill>
                  <a:srgbClr val="26211A"/>
                </a:solidFill>
                <a:latin typeface="Calibri"/>
              </a:rPr>
              <a:t>AlerteAgri le fait : production attendue par filière et par commune, à partir des parcelles déclarées, et lots traçés vers le marché terminal SIPI.</a:t>
            </a:r>
          </a:p>
        </p:txBody>
      </p:sp>
      <p:sp>
        <p:nvSpPr>
          <p:cNvPr id="6" name="TextBox 5"/>
          <p:cNvSpPr txBox="1"/>
          <p:nvPr/>
        </p:nvSpPr>
        <p:spPr>
          <a:xfrm>
            <a:off x="548640" y="6355080"/>
            <a:ext cx="11064240" cy="320040"/>
          </a:xfrm>
          <a:prstGeom prst="rect">
            <a:avLst/>
          </a:prstGeom>
          <a:noFill/>
        </p:spPr>
        <p:txBody>
          <a:bodyPr wrap="square" lIns="0" rIns="0" tIns="0" bIns="0" anchor="t">
            <a:spAutoFit/>
          </a:bodyPr>
          <a:lstStyle/>
          <a:p>
            <a:pPr algn="l"/>
            <a:r>
              <a:rPr sz="1000" b="0" i="0">
                <a:solidFill>
                  <a:srgbClr val="665E51"/>
                </a:solidFill>
                <a:latin typeface="Calibri"/>
              </a:rPr>
              <a:t>Sources : Trésor, production 2024-2025 (soja attendu, cajou borne basse de 212 000 à 225 000 t) ; GDIZ, capacités installées 2026. Coton exclu : production en coton-graine, capacité en fibre, non comparables.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t">
            <a:spAutoFit/>
          </a:bodyPr>
          <a:lstStyle/>
          <a:p>
            <a:pPr algn="l"/>
            <a:r>
              <a:rPr sz="3400" b="1" i="0">
                <a:solidFill>
                  <a:srgbClr val="26211A"/>
                </a:solidFill>
                <a:latin typeface="Cambria"/>
              </a:rPr>
              <a:t>Pour l’État et les communes</a:t>
            </a:r>
          </a:p>
        </p:txBody>
      </p:sp>
      <p:sp>
        <p:nvSpPr>
          <p:cNvPr id="3" name="TextBox 2"/>
          <p:cNvSpPr txBox="1"/>
          <p:nvPr/>
        </p:nvSpPr>
        <p:spPr>
          <a:xfrm>
            <a:off x="548640" y="1097280"/>
            <a:ext cx="11064240" cy="457200"/>
          </a:xfrm>
          <a:prstGeom prst="rect">
            <a:avLst/>
          </a:prstGeom>
          <a:noFill/>
        </p:spPr>
        <p:txBody>
          <a:bodyPr wrap="square" lIns="0" rIns="0" tIns="0" bIns="0" anchor="t">
            <a:spAutoFit/>
          </a:bodyPr>
          <a:lstStyle/>
          <a:p>
            <a:pPr algn="l"/>
            <a:r>
              <a:rPr sz="1600" b="0" i="0">
                <a:solidFill>
                  <a:srgbClr val="665E51"/>
                </a:solidFill>
                <a:latin typeface="Calibri"/>
              </a:rPr>
              <a:t>Recettes traçables, décisions chiffrées</a:t>
            </a:r>
          </a:p>
        </p:txBody>
      </p:sp>
      <p:pic>
        <p:nvPicPr>
          <p:cNvPr id="4" name="Picture 3" descr="recettes.png"/>
          <p:cNvPicPr>
            <a:picLocks noChangeAspect="1"/>
          </p:cNvPicPr>
          <p:nvPr/>
        </p:nvPicPr>
        <p:blipFill>
          <a:blip r:embed="rId2"/>
          <a:stretch>
            <a:fillRect/>
          </a:stretch>
        </p:blipFill>
        <p:spPr>
          <a:xfrm>
            <a:off x="548640" y="1600200"/>
            <a:ext cx="6583680" cy="4114800"/>
          </a:xfrm>
          <a:prstGeom prst="rect">
            <a:avLst/>
          </a:prstGeom>
          <a:ln w="9525">
            <a:solidFill>
              <a:srgbClr val="E5E1D5"/>
            </a:solidFill>
          </a:ln>
        </p:spPr>
      </p:pic>
      <p:sp>
        <p:nvSpPr>
          <p:cNvPr id="5" name="Oval 4"/>
          <p:cNvSpPr/>
          <p:nvPr/>
        </p:nvSpPr>
        <p:spPr>
          <a:xfrm>
            <a:off x="7498079" y="1691640"/>
            <a:ext cx="457200" cy="457200"/>
          </a:xfrm>
          <a:prstGeom prst="ellipse">
            <a:avLst/>
          </a:prstGeom>
          <a:solidFill>
            <a:srgbClr val="007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a:t>
            </a:r>
          </a:p>
        </p:txBody>
      </p:sp>
      <p:sp>
        <p:nvSpPr>
          <p:cNvPr id="6" name="TextBox 5"/>
          <p:cNvSpPr txBox="1"/>
          <p:nvPr/>
        </p:nvSpPr>
        <p:spPr>
          <a:xfrm>
            <a:off x="8138160" y="1673352"/>
            <a:ext cx="3566160" cy="411480"/>
          </a:xfrm>
          <a:prstGeom prst="rect">
            <a:avLst/>
          </a:prstGeom>
          <a:noFill/>
        </p:spPr>
        <p:txBody>
          <a:bodyPr wrap="square" lIns="0" rIns="0" tIns="0" bIns="0" anchor="t">
            <a:spAutoFit/>
          </a:bodyPr>
          <a:lstStyle/>
          <a:p>
            <a:pPr algn="l"/>
            <a:r>
              <a:rPr sz="1700" b="1" i="0">
                <a:solidFill>
                  <a:srgbClr val="26211A"/>
                </a:solidFill>
                <a:latin typeface="Cambria"/>
              </a:rPr>
              <a:t>Taxe de développement local</a:t>
            </a:r>
          </a:p>
        </p:txBody>
      </p:sp>
      <p:sp>
        <p:nvSpPr>
          <p:cNvPr id="7" name="TextBox 6"/>
          <p:cNvSpPr txBox="1"/>
          <p:nvPr/>
        </p:nvSpPr>
        <p:spPr>
          <a:xfrm>
            <a:off x="8138160" y="2057400"/>
            <a:ext cx="3566160" cy="731520"/>
          </a:xfrm>
          <a:prstGeom prst="rect">
            <a:avLst/>
          </a:prstGeom>
          <a:noFill/>
        </p:spPr>
        <p:txBody>
          <a:bodyPr wrap="square" lIns="0" rIns="0" tIns="0" bIns="0" anchor="t">
            <a:spAutoFit/>
          </a:bodyPr>
          <a:lstStyle/>
          <a:p>
            <a:pPr algn="l"/>
            <a:r>
              <a:rPr sz="1300" b="0" i="0">
                <a:solidFill>
                  <a:srgbClr val="665E51"/>
                </a:solidFill>
                <a:latin typeface="Calibri"/>
              </a:rPr>
              <a:t>calculée à la vente, payée en mobile money, reçu QR signé et vérifiable par tous</a:t>
            </a:r>
          </a:p>
        </p:txBody>
      </p:sp>
      <p:sp>
        <p:nvSpPr>
          <p:cNvPr id="8" name="Oval 7"/>
          <p:cNvSpPr/>
          <p:nvPr/>
        </p:nvSpPr>
        <p:spPr>
          <a:xfrm>
            <a:off x="7498079" y="2807208"/>
            <a:ext cx="457200" cy="457200"/>
          </a:xfrm>
          <a:prstGeom prst="ellipse">
            <a:avLst/>
          </a:prstGeom>
          <a:solidFill>
            <a:srgbClr val="007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a:t>
            </a:r>
          </a:p>
        </p:txBody>
      </p:sp>
      <p:sp>
        <p:nvSpPr>
          <p:cNvPr id="9" name="TextBox 8"/>
          <p:cNvSpPr txBox="1"/>
          <p:nvPr/>
        </p:nvSpPr>
        <p:spPr>
          <a:xfrm>
            <a:off x="8138160" y="2788920"/>
            <a:ext cx="3566160" cy="411480"/>
          </a:xfrm>
          <a:prstGeom prst="rect">
            <a:avLst/>
          </a:prstGeom>
          <a:noFill/>
        </p:spPr>
        <p:txBody>
          <a:bodyPr wrap="square" lIns="0" rIns="0" tIns="0" bIns="0" anchor="t">
            <a:spAutoFit/>
          </a:bodyPr>
          <a:lstStyle/>
          <a:p>
            <a:pPr algn="l"/>
            <a:r>
              <a:rPr sz="1700" b="1" i="0">
                <a:solidFill>
                  <a:srgbClr val="26211A"/>
                </a:solidFill>
                <a:latin typeface="Cambria"/>
              </a:rPr>
              <a:t>Rapprochement</a:t>
            </a:r>
          </a:p>
        </p:txBody>
      </p:sp>
      <p:sp>
        <p:nvSpPr>
          <p:cNvPr id="10" name="TextBox 9"/>
          <p:cNvSpPr txBox="1"/>
          <p:nvPr/>
        </p:nvSpPr>
        <p:spPr>
          <a:xfrm>
            <a:off x="8138160" y="3172968"/>
            <a:ext cx="3566160" cy="731520"/>
          </a:xfrm>
          <a:prstGeom prst="rect">
            <a:avLst/>
          </a:prstGeom>
          <a:noFill/>
        </p:spPr>
        <p:txBody>
          <a:bodyPr wrap="square" lIns="0" rIns="0" tIns="0" bIns="0" anchor="t">
            <a:spAutoFit/>
          </a:bodyPr>
          <a:lstStyle/>
          <a:p>
            <a:pPr algn="l"/>
            <a:r>
              <a:rPr sz="1300" b="0" i="0">
                <a:solidFill>
                  <a:srgbClr val="665E51"/>
                </a:solidFill>
                <a:latin typeface="Calibri"/>
              </a:rPr>
              <a:t>chaque reçu est revérifié : un montant modifié en base apparaît comme invalide</a:t>
            </a:r>
          </a:p>
        </p:txBody>
      </p:sp>
      <p:sp>
        <p:nvSpPr>
          <p:cNvPr id="11" name="Oval 10"/>
          <p:cNvSpPr/>
          <p:nvPr/>
        </p:nvSpPr>
        <p:spPr>
          <a:xfrm>
            <a:off x="7498079" y="3922776"/>
            <a:ext cx="457200" cy="457200"/>
          </a:xfrm>
          <a:prstGeom prst="ellipse">
            <a:avLst/>
          </a:prstGeom>
          <a:solidFill>
            <a:srgbClr val="007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3</a:t>
            </a:r>
          </a:p>
        </p:txBody>
      </p:sp>
      <p:sp>
        <p:nvSpPr>
          <p:cNvPr id="12" name="TextBox 11"/>
          <p:cNvSpPr txBox="1"/>
          <p:nvPr/>
        </p:nvSpPr>
        <p:spPr>
          <a:xfrm>
            <a:off x="8138160" y="3904488"/>
            <a:ext cx="3566160" cy="411480"/>
          </a:xfrm>
          <a:prstGeom prst="rect">
            <a:avLst/>
          </a:prstGeom>
          <a:noFill/>
        </p:spPr>
        <p:txBody>
          <a:bodyPr wrap="square" lIns="0" rIns="0" tIns="0" bIns="0" anchor="t">
            <a:spAutoFit/>
          </a:bodyPr>
          <a:lstStyle/>
          <a:p>
            <a:pPr algn="l"/>
            <a:r>
              <a:rPr sz="1700" b="1" i="0">
                <a:solidFill>
                  <a:srgbClr val="26211A"/>
                </a:solidFill>
                <a:latin typeface="Cambria"/>
              </a:rPr>
              <a:t>Valeur protégée</a:t>
            </a:r>
          </a:p>
        </p:txBody>
      </p:sp>
      <p:sp>
        <p:nvSpPr>
          <p:cNvPr id="13" name="TextBox 12"/>
          <p:cNvSpPr txBox="1"/>
          <p:nvPr/>
        </p:nvSpPr>
        <p:spPr>
          <a:xfrm>
            <a:off x="8138160" y="4288536"/>
            <a:ext cx="3566160" cy="731520"/>
          </a:xfrm>
          <a:prstGeom prst="rect">
            <a:avLst/>
          </a:prstGeom>
          <a:noFill/>
        </p:spPr>
        <p:txBody>
          <a:bodyPr wrap="square" lIns="0" rIns="0" tIns="0" bIns="0" anchor="t">
            <a:spAutoFit/>
          </a:bodyPr>
          <a:lstStyle/>
          <a:p>
            <a:pPr algn="l"/>
            <a:r>
              <a:rPr sz="1300" b="0" i="0">
                <a:solidFill>
                  <a:srgbClr val="665E51"/>
                </a:solidFill>
                <a:latin typeface="Calibri"/>
              </a:rPr>
              <a:t>surface déclarée × rendement × prix sous chaque alerte, en FCFA</a:t>
            </a:r>
          </a:p>
        </p:txBody>
      </p:sp>
      <p:sp>
        <p:nvSpPr>
          <p:cNvPr id="14" name="Oval 13"/>
          <p:cNvSpPr/>
          <p:nvPr/>
        </p:nvSpPr>
        <p:spPr>
          <a:xfrm>
            <a:off x="7498079" y="5038344"/>
            <a:ext cx="457200" cy="457200"/>
          </a:xfrm>
          <a:prstGeom prst="ellipse">
            <a:avLst/>
          </a:prstGeom>
          <a:solidFill>
            <a:srgbClr val="007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4</a:t>
            </a:r>
          </a:p>
        </p:txBody>
      </p:sp>
      <p:sp>
        <p:nvSpPr>
          <p:cNvPr id="15" name="TextBox 14"/>
          <p:cNvSpPr txBox="1"/>
          <p:nvPr/>
        </p:nvSpPr>
        <p:spPr>
          <a:xfrm>
            <a:off x="8138160" y="5020056"/>
            <a:ext cx="3566160" cy="411480"/>
          </a:xfrm>
          <a:prstGeom prst="rect">
            <a:avLst/>
          </a:prstGeom>
          <a:noFill/>
        </p:spPr>
        <p:txBody>
          <a:bodyPr wrap="square" lIns="0" rIns="0" tIns="0" bIns="0" anchor="t">
            <a:spAutoFit/>
          </a:bodyPr>
          <a:lstStyle/>
          <a:p>
            <a:pPr algn="l"/>
            <a:r>
              <a:rPr sz="1700" b="1" i="0">
                <a:solidFill>
                  <a:srgbClr val="26211A"/>
                </a:solidFill>
                <a:latin typeface="Cambria"/>
              </a:rPr>
              <a:t>Pilotage</a:t>
            </a:r>
          </a:p>
        </p:txBody>
      </p:sp>
      <p:sp>
        <p:nvSpPr>
          <p:cNvPr id="16" name="TextBox 15"/>
          <p:cNvSpPr txBox="1"/>
          <p:nvPr/>
        </p:nvSpPr>
        <p:spPr>
          <a:xfrm>
            <a:off x="8138160" y="5404104"/>
            <a:ext cx="3566160" cy="731520"/>
          </a:xfrm>
          <a:prstGeom prst="rect">
            <a:avLst/>
          </a:prstGeom>
          <a:noFill/>
        </p:spPr>
        <p:txBody>
          <a:bodyPr wrap="square" lIns="0" rIns="0" tIns="0" bIns="0" anchor="t">
            <a:spAutoFit/>
          </a:bodyPr>
          <a:lstStyle/>
          <a:p>
            <a:pPr algn="l"/>
            <a:r>
              <a:rPr sz="1300" b="0" i="0">
                <a:solidFill>
                  <a:srgbClr val="665E51"/>
                </a:solidFill>
                <a:latin typeface="Calibri"/>
              </a:rPr>
              <a:t>règles d’alerte et calendriers modifiables par l’ATDA, sans développeur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t">
            <a:spAutoFit/>
          </a:bodyPr>
          <a:lstStyle/>
          <a:p>
            <a:pPr algn="l"/>
            <a:r>
              <a:rPr sz="3400" b="1" i="0">
                <a:solidFill>
                  <a:srgbClr val="26211A"/>
                </a:solidFill>
                <a:latin typeface="Cambria"/>
              </a:rPr>
              <a:t>Livré seul, et auditable par un tiers</a:t>
            </a:r>
          </a:p>
        </p:txBody>
      </p:sp>
      <p:sp>
        <p:nvSpPr>
          <p:cNvPr id="3" name="TextBox 2"/>
          <p:cNvSpPr txBox="1"/>
          <p:nvPr/>
        </p:nvSpPr>
        <p:spPr>
          <a:xfrm>
            <a:off x="548640" y="1097280"/>
            <a:ext cx="11064240" cy="457200"/>
          </a:xfrm>
          <a:prstGeom prst="rect">
            <a:avLst/>
          </a:prstGeom>
          <a:noFill/>
        </p:spPr>
        <p:txBody>
          <a:bodyPr wrap="square" lIns="0" rIns="0" tIns="0" bIns="0" anchor="t">
            <a:spAutoFit/>
          </a:bodyPr>
          <a:lstStyle/>
          <a:p>
            <a:pPr algn="l"/>
            <a:r>
              <a:rPr sz="1600" b="0" i="0">
                <a:solidFill>
                  <a:srgbClr val="665E51"/>
                </a:solidFill>
                <a:latin typeface="Calibri"/>
              </a:rPr>
              <a:t>Chaque affirmation porte sa preuve</a:t>
            </a:r>
          </a:p>
        </p:txBody>
      </p:sp>
      <p:sp>
        <p:nvSpPr>
          <p:cNvPr id="4" name="TextBox 3"/>
          <p:cNvSpPr txBox="1"/>
          <p:nvPr/>
        </p:nvSpPr>
        <p:spPr>
          <a:xfrm>
            <a:off x="548640" y="1737360"/>
            <a:ext cx="2651760" cy="914400"/>
          </a:xfrm>
          <a:prstGeom prst="rect">
            <a:avLst/>
          </a:prstGeom>
          <a:noFill/>
        </p:spPr>
        <p:txBody>
          <a:bodyPr wrap="square" lIns="0" rIns="0" tIns="0" bIns="0" anchor="t">
            <a:spAutoFit/>
          </a:bodyPr>
          <a:lstStyle/>
          <a:p>
            <a:pPr algn="l"/>
            <a:r>
              <a:rPr sz="4800" b="1" i="0">
                <a:solidFill>
                  <a:srgbClr val="007A4A"/>
                </a:solidFill>
                <a:latin typeface="Cambria"/>
              </a:rPr>
              <a:t>342</a:t>
            </a:r>
          </a:p>
        </p:txBody>
      </p:sp>
      <p:sp>
        <p:nvSpPr>
          <p:cNvPr id="5" name="TextBox 4"/>
          <p:cNvSpPr txBox="1"/>
          <p:nvPr/>
        </p:nvSpPr>
        <p:spPr>
          <a:xfrm>
            <a:off x="548640" y="2697480"/>
            <a:ext cx="2651760" cy="411480"/>
          </a:xfrm>
          <a:prstGeom prst="rect">
            <a:avLst/>
          </a:prstGeom>
          <a:noFill/>
        </p:spPr>
        <p:txBody>
          <a:bodyPr wrap="square" lIns="0" rIns="0" tIns="0" bIns="0" anchor="t">
            <a:spAutoFit/>
          </a:bodyPr>
          <a:lstStyle/>
          <a:p>
            <a:pPr algn="l"/>
            <a:r>
              <a:rPr sz="1700" b="1" i="0">
                <a:solidFill>
                  <a:srgbClr val="26211A"/>
                </a:solidFill>
                <a:latin typeface="Calibri"/>
              </a:rPr>
              <a:t>tests automatisés</a:t>
            </a:r>
          </a:p>
        </p:txBody>
      </p:sp>
      <p:sp>
        <p:nvSpPr>
          <p:cNvPr id="6" name="TextBox 5"/>
          <p:cNvSpPr txBox="1"/>
          <p:nvPr/>
        </p:nvSpPr>
        <p:spPr>
          <a:xfrm>
            <a:off x="548640" y="3108960"/>
            <a:ext cx="2651760" cy="640080"/>
          </a:xfrm>
          <a:prstGeom prst="rect">
            <a:avLst/>
          </a:prstGeom>
          <a:noFill/>
        </p:spPr>
        <p:txBody>
          <a:bodyPr wrap="square" lIns="0" rIns="0" tIns="0" bIns="0" anchor="t">
            <a:spAutoFit/>
          </a:bodyPr>
          <a:lstStyle/>
          <a:p>
            <a:pPr algn="l"/>
            <a:r>
              <a:rPr sz="1300" b="0" i="0">
                <a:solidFill>
                  <a:srgbClr val="665E51"/>
                </a:solidFill>
                <a:latin typeface="Calibri"/>
              </a:rPr>
              <a:t>91 métier, 65 API sur PostgreSQL, 186 dans le navigateur</a:t>
            </a:r>
          </a:p>
        </p:txBody>
      </p:sp>
      <p:sp>
        <p:nvSpPr>
          <p:cNvPr id="7" name="TextBox 6"/>
          <p:cNvSpPr txBox="1"/>
          <p:nvPr/>
        </p:nvSpPr>
        <p:spPr>
          <a:xfrm>
            <a:off x="3383280" y="1737360"/>
            <a:ext cx="2651760" cy="914400"/>
          </a:xfrm>
          <a:prstGeom prst="rect">
            <a:avLst/>
          </a:prstGeom>
          <a:noFill/>
        </p:spPr>
        <p:txBody>
          <a:bodyPr wrap="square" lIns="0" rIns="0" tIns="0" bIns="0" anchor="t">
            <a:spAutoFit/>
          </a:bodyPr>
          <a:lstStyle/>
          <a:p>
            <a:pPr algn="l"/>
            <a:r>
              <a:rPr sz="4800" b="1" i="0">
                <a:solidFill>
                  <a:srgbClr val="007A4A"/>
                </a:solidFill>
                <a:latin typeface="Cambria"/>
              </a:rPr>
              <a:t>97 %</a:t>
            </a:r>
          </a:p>
        </p:txBody>
      </p:sp>
      <p:sp>
        <p:nvSpPr>
          <p:cNvPr id="8" name="TextBox 7"/>
          <p:cNvSpPr txBox="1"/>
          <p:nvPr/>
        </p:nvSpPr>
        <p:spPr>
          <a:xfrm>
            <a:off x="3383280" y="2697480"/>
            <a:ext cx="2651760" cy="411480"/>
          </a:xfrm>
          <a:prstGeom prst="rect">
            <a:avLst/>
          </a:prstGeom>
          <a:noFill/>
        </p:spPr>
        <p:txBody>
          <a:bodyPr wrap="square" lIns="0" rIns="0" tIns="0" bIns="0" anchor="t">
            <a:spAutoFit/>
          </a:bodyPr>
          <a:lstStyle/>
          <a:p>
            <a:pPr algn="l"/>
            <a:r>
              <a:rPr sz="1700" b="1" i="0">
                <a:solidFill>
                  <a:srgbClr val="26211A"/>
                </a:solidFill>
                <a:latin typeface="Calibri"/>
              </a:rPr>
              <a:t>de mutants détectés</a:t>
            </a:r>
          </a:p>
        </p:txBody>
      </p:sp>
      <p:sp>
        <p:nvSpPr>
          <p:cNvPr id="9" name="TextBox 8"/>
          <p:cNvSpPr txBox="1"/>
          <p:nvPr/>
        </p:nvSpPr>
        <p:spPr>
          <a:xfrm>
            <a:off x="3383280" y="3108960"/>
            <a:ext cx="2651760" cy="640080"/>
          </a:xfrm>
          <a:prstGeom prst="rect">
            <a:avLst/>
          </a:prstGeom>
          <a:noFill/>
        </p:spPr>
        <p:txBody>
          <a:bodyPr wrap="square" lIns="0" rIns="0" tIns="0" bIns="0" anchor="t">
            <a:spAutoFit/>
          </a:bodyPr>
          <a:lstStyle/>
          <a:p>
            <a:pPr algn="l"/>
            <a:r>
              <a:rPr sz="1300" b="0" i="0">
                <a:solidFill>
                  <a:srgbClr val="665E51"/>
                </a:solidFill>
                <a:latin typeface="Calibri"/>
              </a:rPr>
              <a:t>les tests échouent quand le code est cassé</a:t>
            </a:r>
          </a:p>
        </p:txBody>
      </p:sp>
      <p:sp>
        <p:nvSpPr>
          <p:cNvPr id="10" name="TextBox 9"/>
          <p:cNvSpPr txBox="1"/>
          <p:nvPr/>
        </p:nvSpPr>
        <p:spPr>
          <a:xfrm>
            <a:off x="6217920" y="1737360"/>
            <a:ext cx="2651760" cy="914400"/>
          </a:xfrm>
          <a:prstGeom prst="rect">
            <a:avLst/>
          </a:prstGeom>
          <a:noFill/>
        </p:spPr>
        <p:txBody>
          <a:bodyPr wrap="square" lIns="0" rIns="0" tIns="0" bIns="0" anchor="t">
            <a:spAutoFit/>
          </a:bodyPr>
          <a:lstStyle/>
          <a:p>
            <a:pPr algn="l"/>
            <a:r>
              <a:rPr sz="4800" b="1" i="0">
                <a:solidFill>
                  <a:srgbClr val="007A4A"/>
                </a:solidFill>
                <a:latin typeface="Cambria"/>
              </a:rPr>
              <a:t>0</a:t>
            </a:r>
          </a:p>
        </p:txBody>
      </p:sp>
      <p:sp>
        <p:nvSpPr>
          <p:cNvPr id="11" name="TextBox 10"/>
          <p:cNvSpPr txBox="1"/>
          <p:nvPr/>
        </p:nvSpPr>
        <p:spPr>
          <a:xfrm>
            <a:off x="6217920" y="2697480"/>
            <a:ext cx="2651760" cy="411480"/>
          </a:xfrm>
          <a:prstGeom prst="rect">
            <a:avLst/>
          </a:prstGeom>
          <a:noFill/>
        </p:spPr>
        <p:txBody>
          <a:bodyPr wrap="square" lIns="0" rIns="0" tIns="0" bIns="0" anchor="t">
            <a:spAutoFit/>
          </a:bodyPr>
          <a:lstStyle/>
          <a:p>
            <a:pPr algn="l"/>
            <a:r>
              <a:rPr sz="1700" b="1" i="0">
                <a:solidFill>
                  <a:srgbClr val="26211A"/>
                </a:solidFill>
                <a:latin typeface="Calibri"/>
              </a:rPr>
              <a:t>violation d’accessibilité</a:t>
            </a:r>
          </a:p>
        </p:txBody>
      </p:sp>
      <p:sp>
        <p:nvSpPr>
          <p:cNvPr id="12" name="TextBox 11"/>
          <p:cNvSpPr txBox="1"/>
          <p:nvPr/>
        </p:nvSpPr>
        <p:spPr>
          <a:xfrm>
            <a:off x="6217920" y="3108960"/>
            <a:ext cx="2651760" cy="640080"/>
          </a:xfrm>
          <a:prstGeom prst="rect">
            <a:avLst/>
          </a:prstGeom>
          <a:noFill/>
        </p:spPr>
        <p:txBody>
          <a:bodyPr wrap="square" lIns="0" rIns="0" tIns="0" bIns="0" anchor="t">
            <a:spAutoFit/>
          </a:bodyPr>
          <a:lstStyle/>
          <a:p>
            <a:pPr algn="l"/>
            <a:r>
              <a:rPr sz="1300" b="0" i="0">
                <a:solidFill>
                  <a:srgbClr val="665E51"/>
                </a:solidFill>
                <a:latin typeface="Calibri"/>
              </a:rPr>
              <a:t>WCAG 2.1 AA, 18 écrans, mobile et ordinateur, clair et sombre</a:t>
            </a:r>
          </a:p>
        </p:txBody>
      </p:sp>
      <p:sp>
        <p:nvSpPr>
          <p:cNvPr id="13" name="TextBox 12"/>
          <p:cNvSpPr txBox="1"/>
          <p:nvPr/>
        </p:nvSpPr>
        <p:spPr>
          <a:xfrm>
            <a:off x="9052560" y="1737360"/>
            <a:ext cx="2651760" cy="914400"/>
          </a:xfrm>
          <a:prstGeom prst="rect">
            <a:avLst/>
          </a:prstGeom>
          <a:noFill/>
        </p:spPr>
        <p:txBody>
          <a:bodyPr wrap="square" lIns="0" rIns="0" tIns="0" bIns="0" anchor="t">
            <a:spAutoFit/>
          </a:bodyPr>
          <a:lstStyle/>
          <a:p>
            <a:pPr algn="l"/>
            <a:r>
              <a:rPr sz="4800" b="1" i="0">
                <a:solidFill>
                  <a:srgbClr val="007A4A"/>
                </a:solidFill>
                <a:latin typeface="Cambria"/>
              </a:rPr>
              <a:t>0</a:t>
            </a:r>
          </a:p>
        </p:txBody>
      </p:sp>
      <p:sp>
        <p:nvSpPr>
          <p:cNvPr id="14" name="TextBox 13"/>
          <p:cNvSpPr txBox="1"/>
          <p:nvPr/>
        </p:nvSpPr>
        <p:spPr>
          <a:xfrm>
            <a:off x="9052560" y="2697480"/>
            <a:ext cx="2651760" cy="411480"/>
          </a:xfrm>
          <a:prstGeom prst="rect">
            <a:avLst/>
          </a:prstGeom>
          <a:noFill/>
        </p:spPr>
        <p:txBody>
          <a:bodyPr wrap="square" lIns="0" rIns="0" tIns="0" bIns="0" anchor="t">
            <a:spAutoFit/>
          </a:bodyPr>
          <a:lstStyle/>
          <a:p>
            <a:pPr algn="l"/>
            <a:r>
              <a:rPr sz="1700" b="1" i="0">
                <a:solidFill>
                  <a:srgbClr val="26211A"/>
                </a:solidFill>
                <a:latin typeface="Calibri"/>
              </a:rPr>
              <a:t>faille exploitable</a:t>
            </a:r>
          </a:p>
        </p:txBody>
      </p:sp>
      <p:sp>
        <p:nvSpPr>
          <p:cNvPr id="15" name="TextBox 14"/>
          <p:cNvSpPr txBox="1"/>
          <p:nvPr/>
        </p:nvSpPr>
        <p:spPr>
          <a:xfrm>
            <a:off x="9052560" y="3108960"/>
            <a:ext cx="2651760" cy="640080"/>
          </a:xfrm>
          <a:prstGeom prst="rect">
            <a:avLst/>
          </a:prstGeom>
          <a:noFill/>
        </p:spPr>
        <p:txBody>
          <a:bodyPr wrap="square" lIns="0" rIns="0" tIns="0" bIns="0" anchor="t">
            <a:spAutoFit/>
          </a:bodyPr>
          <a:lstStyle/>
          <a:p>
            <a:pPr algn="l"/>
            <a:r>
              <a:rPr sz="1300" b="0" i="0">
                <a:solidFill>
                  <a:srgbClr val="665E51"/>
                </a:solidFill>
                <a:latin typeface="Calibri"/>
              </a:rPr>
              <a:t>au pentest de l’API en ligne</a:t>
            </a:r>
          </a:p>
        </p:txBody>
      </p:sp>
      <p:sp>
        <p:nvSpPr>
          <p:cNvPr id="16" name="Rounded Rectangle 15"/>
          <p:cNvSpPr/>
          <p:nvPr/>
        </p:nvSpPr>
        <p:spPr>
          <a:xfrm>
            <a:off x="548640" y="4114800"/>
            <a:ext cx="11064240" cy="1600200"/>
          </a:xfrm>
          <a:prstGeom prst="roundRect">
            <a:avLst>
              <a:gd name="adj" fmla="val 8000"/>
            </a:avLst>
          </a:prstGeom>
          <a:solidFill>
            <a:srgbClr val="E0F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343400"/>
            <a:ext cx="10424160" cy="1280160"/>
          </a:xfrm>
          <a:prstGeom prst="rect">
            <a:avLst/>
          </a:prstGeom>
          <a:noFill/>
        </p:spPr>
        <p:txBody>
          <a:bodyPr wrap="square" lIns="0" rIns="0" tIns="0" bIns="0" anchor="t">
            <a:spAutoFit/>
          </a:bodyPr>
          <a:lstStyle/>
          <a:p>
            <a:pPr algn="l">
              <a:spcAft>
                <a:spcPts val="800"/>
              </a:spcAft>
            </a:pPr>
            <a:r>
              <a:rPr sz="1500" b="1" i="0">
                <a:solidFill>
                  <a:srgbClr val="26211A"/>
                </a:solidFill>
                <a:latin typeface="Calibri"/>
              </a:rPr>
              <a:t>Documentation vivante : </a:t>
            </a:r>
            <a:r>
              <a:rPr sz="1500" b="0" i="0">
                <a:solidFill>
                  <a:srgbClr val="26211A"/>
                </a:solidFill>
                <a:latin typeface="Calibri"/>
              </a:rPr>
              <a:t>carte des 17 packages, diagrammes de classes et de séquence vérifiés contre le code à chaque changement.</a:t>
            </a:r>
          </a:p>
          <a:p>
            <a:pPr algn="l">
              <a:spcAft>
                <a:spcPts val="800"/>
              </a:spcAft>
            </a:pPr>
            <a:r>
              <a:rPr sz="1500" b="1" i="0">
                <a:solidFill>
                  <a:srgbClr val="26211A"/>
                </a:solidFill>
                <a:latin typeface="Calibri"/>
              </a:rPr>
              <a:t>Problèmes connus publiés : </a:t>
            </a:r>
            <a:r>
              <a:rPr sz="1500" b="0" i="0">
                <a:solidFill>
                  <a:srgbClr val="26211A"/>
                </a:solidFill>
                <a:latin typeface="Calibri"/>
              </a:rPr>
              <a:t>ce qui est simulé (SMS, code USSD, paiement, connecteur SIPI) est écrit, pas caché.</a:t>
            </a:r>
          </a:p>
          <a:p>
            <a:pPr algn="l">
              <a:spcAft>
                <a:spcPts val="800"/>
              </a:spcAft>
            </a:pPr>
            <a:r>
              <a:rPr sz="1500" b="1" i="0">
                <a:solidFill>
                  <a:srgbClr val="26211A"/>
                </a:solidFill>
                <a:latin typeface="Calibri"/>
              </a:rPr>
              <a:t>Intégration continue : </a:t>
            </a:r>
            <a:r>
              <a:rPr sz="1500" b="0" i="0">
                <a:solidFill>
                  <a:srgbClr val="26211A"/>
                </a:solidFill>
                <a:latin typeface="Calibri"/>
              </a:rPr>
              <a:t>chaque modification passe lint, TypeScript strict, tests et audit d’accessibilité avant d’entrer dans le code.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t">
            <a:spAutoFit/>
          </a:bodyPr>
          <a:lstStyle/>
          <a:p>
            <a:pPr algn="l"/>
            <a:r>
              <a:rPr sz="3400" b="1" i="0">
                <a:solidFill>
                  <a:srgbClr val="26211A"/>
                </a:solidFill>
                <a:latin typeface="Cambria"/>
              </a:rPr>
              <a:t>De la démo au pays</a:t>
            </a:r>
          </a:p>
        </p:txBody>
      </p:sp>
      <p:sp>
        <p:nvSpPr>
          <p:cNvPr id="3" name="TextBox 2"/>
          <p:cNvSpPr txBox="1"/>
          <p:nvPr/>
        </p:nvSpPr>
        <p:spPr>
          <a:xfrm>
            <a:off x="548640" y="1097280"/>
            <a:ext cx="11064240" cy="457200"/>
          </a:xfrm>
          <a:prstGeom prst="rect">
            <a:avLst/>
          </a:prstGeom>
          <a:noFill/>
        </p:spPr>
        <p:txBody>
          <a:bodyPr wrap="square" lIns="0" rIns="0" tIns="0" bIns="0" anchor="t">
            <a:spAutoFit/>
          </a:bodyPr>
          <a:lstStyle/>
          <a:p>
            <a:pPr algn="l"/>
            <a:r>
              <a:rPr sz="1600" b="0" i="0">
                <a:solidFill>
                  <a:srgbClr val="665E51"/>
                </a:solidFill>
                <a:latin typeface="Calibri"/>
              </a:rPr>
              <a:t>Une montée en charge par pôle de développement agricole</a:t>
            </a:r>
          </a:p>
        </p:txBody>
      </p:sp>
      <p:sp>
        <p:nvSpPr>
          <p:cNvPr id="4" name="Rounded Rectangle 3"/>
          <p:cNvSpPr/>
          <p:nvPr/>
        </p:nvSpPr>
        <p:spPr>
          <a:xfrm>
            <a:off x="548640" y="1691640"/>
            <a:ext cx="3566160" cy="4206240"/>
          </a:xfrm>
          <a:prstGeom prst="roundRect">
            <a:avLst>
              <a:gd name="adj" fmla="val 8000"/>
            </a:avLst>
          </a:prstGeom>
          <a:solidFill>
            <a:srgbClr val="E0F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920240"/>
            <a:ext cx="3017520" cy="365760"/>
          </a:xfrm>
          <a:prstGeom prst="rect">
            <a:avLst/>
          </a:prstGeom>
          <a:noFill/>
        </p:spPr>
        <p:txBody>
          <a:bodyPr wrap="square" lIns="0" rIns="0" tIns="0" bIns="0" anchor="t">
            <a:spAutoFit/>
          </a:bodyPr>
          <a:lstStyle/>
          <a:p>
            <a:pPr algn="l"/>
            <a:r>
              <a:rPr sz="1400" b="1" i="0">
                <a:solidFill>
                  <a:srgbClr val="665E51"/>
                </a:solidFill>
                <a:latin typeface="Calibri"/>
              </a:rPr>
              <a:t>0–3 mois</a:t>
            </a:r>
          </a:p>
        </p:txBody>
      </p:sp>
      <p:sp>
        <p:nvSpPr>
          <p:cNvPr id="6" name="TextBox 5"/>
          <p:cNvSpPr txBox="1"/>
          <p:nvPr/>
        </p:nvSpPr>
        <p:spPr>
          <a:xfrm>
            <a:off x="822959" y="2286000"/>
            <a:ext cx="3017520" cy="548640"/>
          </a:xfrm>
          <a:prstGeom prst="rect">
            <a:avLst/>
          </a:prstGeom>
          <a:noFill/>
        </p:spPr>
        <p:txBody>
          <a:bodyPr wrap="square" lIns="0" rIns="0" tIns="0" bIns="0" anchor="t">
            <a:spAutoFit/>
          </a:bodyPr>
          <a:lstStyle/>
          <a:p>
            <a:pPr algn="l"/>
            <a:r>
              <a:rPr sz="2600" b="1" i="0">
                <a:solidFill>
                  <a:srgbClr val="26211A"/>
                </a:solidFill>
                <a:latin typeface="Cambria"/>
              </a:rPr>
              <a:t>Pilote</a:t>
            </a:r>
          </a:p>
        </p:txBody>
      </p:sp>
      <p:sp>
        <p:nvSpPr>
          <p:cNvPr id="7" name="TextBox 6"/>
          <p:cNvSpPr txBox="1"/>
          <p:nvPr/>
        </p:nvSpPr>
        <p:spPr>
          <a:xfrm>
            <a:off x="822959" y="3063240"/>
            <a:ext cx="3017520" cy="2651760"/>
          </a:xfrm>
          <a:prstGeom prst="rect">
            <a:avLst/>
          </a:prstGeom>
          <a:noFill/>
        </p:spPr>
        <p:txBody>
          <a:bodyPr wrap="square" lIns="0" rIns="0" tIns="0" bIns="0" anchor="t">
            <a:spAutoFit/>
          </a:bodyPr>
          <a:lstStyle/>
          <a:p>
            <a:pPr algn="l">
              <a:spcAft>
                <a:spcPts val="1000"/>
              </a:spcAft>
            </a:pPr>
            <a:r>
              <a:rPr sz="1400" b="0" i="0">
                <a:solidFill>
                  <a:srgbClr val="26211A"/>
                </a:solidFill>
                <a:latin typeface="Calibri"/>
              </a:rPr>
              <a:t>Un pôle déjà couvert par le PITN2R (pôle 2 ou 4)</a:t>
            </a:r>
          </a:p>
          <a:p>
            <a:pPr algn="l">
              <a:spcAft>
                <a:spcPts val="1000"/>
              </a:spcAft>
            </a:pPr>
            <a:r>
              <a:rPr sz="1400" b="0" i="0">
                <a:solidFill>
                  <a:srgbClr val="26211A"/>
                </a:solidFill>
                <a:latin typeface="Calibri"/>
              </a:rPr>
              <a:t>Conseillers ATDA formés et équipés</a:t>
            </a:r>
          </a:p>
          <a:p>
            <a:pPr algn="l">
              <a:spcAft>
                <a:spcPts val="1000"/>
              </a:spcAft>
            </a:pPr>
            <a:r>
              <a:rPr sz="1400" b="0" i="0">
                <a:solidFill>
                  <a:srgbClr val="26211A"/>
                </a:solidFill>
                <a:latin typeface="Calibri"/>
              </a:rPr>
              <a:t>SMS et USSD réels via un agrégateur, déclaration à l’APDP</a:t>
            </a:r>
          </a:p>
        </p:txBody>
      </p:sp>
      <p:sp>
        <p:nvSpPr>
          <p:cNvPr id="8" name="Rounded Rectangle 7"/>
          <p:cNvSpPr/>
          <p:nvPr/>
        </p:nvSpPr>
        <p:spPr>
          <a:xfrm>
            <a:off x="4343400" y="1691640"/>
            <a:ext cx="3566160" cy="4206240"/>
          </a:xfrm>
          <a:prstGeom prst="roundRect">
            <a:avLst>
              <a:gd name="adj" fmla="val 8000"/>
            </a:avLst>
          </a:prstGeom>
          <a:solidFill>
            <a:srgbClr val="007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1920240"/>
            <a:ext cx="3017520" cy="365760"/>
          </a:xfrm>
          <a:prstGeom prst="rect">
            <a:avLst/>
          </a:prstGeom>
          <a:noFill/>
        </p:spPr>
        <p:txBody>
          <a:bodyPr wrap="square" lIns="0" rIns="0" tIns="0" bIns="0" anchor="t">
            <a:spAutoFit/>
          </a:bodyPr>
          <a:lstStyle/>
          <a:p>
            <a:pPr algn="l"/>
            <a:r>
              <a:rPr sz="1400" b="1" i="0">
                <a:solidFill>
                  <a:srgbClr val="E0F3E9"/>
                </a:solidFill>
                <a:latin typeface="Calibri"/>
              </a:rPr>
              <a:t>3–12 mois</a:t>
            </a:r>
          </a:p>
        </p:txBody>
      </p:sp>
      <p:sp>
        <p:nvSpPr>
          <p:cNvPr id="10" name="TextBox 9"/>
          <p:cNvSpPr txBox="1"/>
          <p:nvPr/>
        </p:nvSpPr>
        <p:spPr>
          <a:xfrm>
            <a:off x="4617720" y="2286000"/>
            <a:ext cx="3017520" cy="548640"/>
          </a:xfrm>
          <a:prstGeom prst="rect">
            <a:avLst/>
          </a:prstGeom>
          <a:noFill/>
        </p:spPr>
        <p:txBody>
          <a:bodyPr wrap="square" lIns="0" rIns="0" tIns="0" bIns="0" anchor="t">
            <a:spAutoFit/>
          </a:bodyPr>
          <a:lstStyle/>
          <a:p>
            <a:pPr algn="l"/>
            <a:r>
              <a:rPr sz="2600" b="1" i="0">
                <a:solidFill>
                  <a:srgbClr val="FFFFFF"/>
                </a:solidFill>
                <a:latin typeface="Cambria"/>
              </a:rPr>
              <a:t>Interopérabilité</a:t>
            </a:r>
          </a:p>
        </p:txBody>
      </p:sp>
      <p:sp>
        <p:nvSpPr>
          <p:cNvPr id="11" name="TextBox 10"/>
          <p:cNvSpPr txBox="1"/>
          <p:nvPr/>
        </p:nvSpPr>
        <p:spPr>
          <a:xfrm>
            <a:off x="4617720" y="3063240"/>
            <a:ext cx="3017520" cy="2651760"/>
          </a:xfrm>
          <a:prstGeom prst="rect">
            <a:avLst/>
          </a:prstGeom>
          <a:noFill/>
        </p:spPr>
        <p:txBody>
          <a:bodyPr wrap="square" lIns="0" rIns="0" tIns="0" bIns="0" anchor="t">
            <a:spAutoFit/>
          </a:bodyPr>
          <a:lstStyle/>
          <a:p>
            <a:pPr algn="l">
              <a:spcAft>
                <a:spcPts val="1000"/>
              </a:spcAft>
            </a:pPr>
            <a:r>
              <a:rPr sz="1400" b="0" i="0">
                <a:solidFill>
                  <a:srgbClr val="FFFFFF"/>
                </a:solidFill>
                <a:latin typeface="Calibri"/>
              </a:rPr>
              <a:t>Connexion par NPI et registre e-Agri via X-Road</a:t>
            </a:r>
          </a:p>
          <a:p>
            <a:pPr algn="l">
              <a:spcAft>
                <a:spcPts val="1000"/>
              </a:spcAft>
            </a:pPr>
            <a:r>
              <a:rPr sz="1400" b="0" i="0">
                <a:solidFill>
                  <a:srgbClr val="FFFFFF"/>
                </a:solidFill>
                <a:latin typeface="Calibri"/>
              </a:rPr>
              <a:t>Export FAMEWS réel, prévisions de Météo-Bénin</a:t>
            </a:r>
          </a:p>
          <a:p>
            <a:pPr algn="l">
              <a:spcAft>
                <a:spcPts val="1000"/>
              </a:spcAft>
            </a:pPr>
            <a:r>
              <a:rPr sz="1400" b="0" i="0">
                <a:solidFill>
                  <a:srgbClr val="FFFFFF"/>
                </a:solidFill>
                <a:latin typeface="Calibri"/>
              </a:rPr>
              <a:t>TDL numérique dans les communes volontaires</a:t>
            </a:r>
          </a:p>
        </p:txBody>
      </p:sp>
      <p:sp>
        <p:nvSpPr>
          <p:cNvPr id="12" name="Rounded Rectangle 11"/>
          <p:cNvSpPr/>
          <p:nvPr/>
        </p:nvSpPr>
        <p:spPr>
          <a:xfrm>
            <a:off x="8138160" y="1691640"/>
            <a:ext cx="3566160" cy="4206240"/>
          </a:xfrm>
          <a:prstGeom prst="roundRect">
            <a:avLst>
              <a:gd name="adj" fmla="val 8000"/>
            </a:avLst>
          </a:prstGeom>
          <a:solidFill>
            <a:srgbClr val="E0F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0" y="1920240"/>
            <a:ext cx="3017520" cy="365760"/>
          </a:xfrm>
          <a:prstGeom prst="rect">
            <a:avLst/>
          </a:prstGeom>
          <a:noFill/>
        </p:spPr>
        <p:txBody>
          <a:bodyPr wrap="square" lIns="0" rIns="0" tIns="0" bIns="0" anchor="t">
            <a:spAutoFit/>
          </a:bodyPr>
          <a:lstStyle/>
          <a:p>
            <a:pPr algn="l"/>
            <a:r>
              <a:rPr sz="1400" b="1" i="0">
                <a:solidFill>
                  <a:srgbClr val="665E51"/>
                </a:solidFill>
                <a:latin typeface="Calibri"/>
              </a:rPr>
              <a:t>12–24 mois</a:t>
            </a:r>
          </a:p>
        </p:txBody>
      </p:sp>
      <p:sp>
        <p:nvSpPr>
          <p:cNvPr id="14" name="TextBox 13"/>
          <p:cNvSpPr txBox="1"/>
          <p:nvPr/>
        </p:nvSpPr>
        <p:spPr>
          <a:xfrm>
            <a:off x="8412480" y="2286000"/>
            <a:ext cx="3017520" cy="548640"/>
          </a:xfrm>
          <a:prstGeom prst="rect">
            <a:avLst/>
          </a:prstGeom>
          <a:noFill/>
        </p:spPr>
        <p:txBody>
          <a:bodyPr wrap="square" lIns="0" rIns="0" tIns="0" bIns="0" anchor="t">
            <a:spAutoFit/>
          </a:bodyPr>
          <a:lstStyle/>
          <a:p>
            <a:pPr algn="l"/>
            <a:r>
              <a:rPr sz="2600" b="1" i="0">
                <a:solidFill>
                  <a:srgbClr val="26211A"/>
                </a:solidFill>
                <a:latin typeface="Cambria"/>
              </a:rPr>
              <a:t>Échelle</a:t>
            </a:r>
          </a:p>
        </p:txBody>
      </p:sp>
      <p:sp>
        <p:nvSpPr>
          <p:cNvPr id="15" name="TextBox 14"/>
          <p:cNvSpPr txBox="1"/>
          <p:nvPr/>
        </p:nvSpPr>
        <p:spPr>
          <a:xfrm>
            <a:off x="8412480" y="3063240"/>
            <a:ext cx="3017520" cy="2651760"/>
          </a:xfrm>
          <a:prstGeom prst="rect">
            <a:avLst/>
          </a:prstGeom>
          <a:noFill/>
        </p:spPr>
        <p:txBody>
          <a:bodyPr wrap="square" lIns="0" rIns="0" tIns="0" bIns="0" anchor="t">
            <a:spAutoFit/>
          </a:bodyPr>
          <a:lstStyle/>
          <a:p>
            <a:pPr algn="l">
              <a:spcAft>
                <a:spcPts val="1000"/>
              </a:spcAft>
            </a:pPr>
            <a:r>
              <a:rPr sz="1400" b="0" i="0">
                <a:solidFill>
                  <a:srgbClr val="26211A"/>
                </a:solidFill>
                <a:latin typeface="Calibri"/>
              </a:rPr>
              <a:t>Les 7 pôles</a:t>
            </a:r>
          </a:p>
          <a:p>
            <a:pPr algn="l">
              <a:spcAft>
                <a:spcPts val="1000"/>
              </a:spcAft>
            </a:pPr>
            <a:r>
              <a:rPr sz="1400" b="0" i="0">
                <a:solidFill>
                  <a:srgbClr val="26211A"/>
                </a:solidFill>
                <a:latin typeface="Calibri"/>
              </a:rPr>
              <a:t>Connecteur réel du marché terminal SIPI</a:t>
            </a:r>
          </a:p>
          <a:p>
            <a:pPr algn="l">
              <a:spcAft>
                <a:spcPts val="1000"/>
              </a:spcAft>
            </a:pPr>
            <a:r>
              <a:rPr sz="1400" b="0" i="0">
                <a:solidFill>
                  <a:srgbClr val="26211A"/>
                </a:solidFill>
                <a:latin typeface="Calibri"/>
              </a:rPr>
              <a:t>Assurance indicielle avec un assureur, ouverture CEDEAO</a:t>
            </a:r>
          </a:p>
        </p:txBody>
      </p:sp>
      <p:sp>
        <p:nvSpPr>
          <p:cNvPr id="16" name="TextBox 15"/>
          <p:cNvSpPr txBox="1"/>
          <p:nvPr/>
        </p:nvSpPr>
        <p:spPr>
          <a:xfrm>
            <a:off x="548640" y="6355080"/>
            <a:ext cx="11064240" cy="320040"/>
          </a:xfrm>
          <a:prstGeom prst="rect">
            <a:avLst/>
          </a:prstGeom>
          <a:noFill/>
        </p:spPr>
        <p:txBody>
          <a:bodyPr wrap="square" lIns="0" rIns="0" tIns="0" bIns="0" anchor="t">
            <a:spAutoFit/>
          </a:bodyPr>
          <a:lstStyle/>
          <a:p>
            <a:pPr algn="l"/>
            <a:r>
              <a:rPr sz="1000" b="0" i="0">
                <a:solidFill>
                  <a:srgbClr val="665E51"/>
                </a:solidFill>
                <a:latin typeface="Calibri"/>
              </a:rPr>
              <a:t>Indicateurs suivis dès le pilote : délai signal-alerte, part des boucles fermées, producteurs actifs par canal (dont sans smartphone), écart au prix de référence, TDL collectée numériquement.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7A4A"/>
        </a:solidFill>
        <a:effectLst/>
      </p:bgPr>
    </p:bg>
    <p:spTree>
      <p:nvGrpSpPr>
        <p:cNvPr id="1" name=""/>
        <p:cNvGrpSpPr/>
        <p:nvPr/>
      </p:nvGrpSpPr>
      <p:grpSpPr/>
      <p:sp>
        <p:nvSpPr>
          <p:cNvPr id="2" name="TextBox 1"/>
          <p:cNvSpPr txBox="1"/>
          <p:nvPr/>
        </p:nvSpPr>
        <p:spPr>
          <a:xfrm>
            <a:off x="731520" y="1371600"/>
            <a:ext cx="10698480" cy="1097280"/>
          </a:xfrm>
          <a:prstGeom prst="rect">
            <a:avLst/>
          </a:prstGeom>
          <a:noFill/>
        </p:spPr>
        <p:txBody>
          <a:bodyPr wrap="square" lIns="0" rIns="0" tIns="0" bIns="0" anchor="t">
            <a:spAutoFit/>
          </a:bodyPr>
          <a:lstStyle/>
          <a:p>
            <a:pPr algn="l"/>
            <a:r>
              <a:rPr sz="5400" b="1" i="0">
                <a:solidFill>
                  <a:srgbClr val="FFFFFF"/>
                </a:solidFill>
                <a:latin typeface="Cambria"/>
              </a:rPr>
              <a:t>Voir venir, agir à temps.</a:t>
            </a:r>
          </a:p>
        </p:txBody>
      </p:sp>
      <p:sp>
        <p:nvSpPr>
          <p:cNvPr id="3" name="TextBox 2"/>
          <p:cNvSpPr txBox="1"/>
          <p:nvPr/>
        </p:nvSpPr>
        <p:spPr>
          <a:xfrm>
            <a:off x="731520" y="2651760"/>
            <a:ext cx="10241280" cy="1097280"/>
          </a:xfrm>
          <a:prstGeom prst="rect">
            <a:avLst/>
          </a:prstGeom>
          <a:noFill/>
        </p:spPr>
        <p:txBody>
          <a:bodyPr wrap="square" lIns="0" rIns="0" tIns="0" bIns="0" anchor="t">
            <a:spAutoFit/>
          </a:bodyPr>
          <a:lstStyle/>
          <a:p>
            <a:pPr algn="l"/>
            <a:r>
              <a:rPr sz="2200" b="0" i="0">
                <a:solidFill>
                  <a:srgbClr val="E0F3E9"/>
                </a:solidFill>
                <a:latin typeface="Calibri"/>
              </a:rPr>
              <a:t>Une plateforme livrée en une journée, testée, documentée et prête pour un pilote : parce que le numérique doit arriver jusqu’au producteur, pas l’inverse.</a:t>
            </a:r>
          </a:p>
        </p:txBody>
      </p:sp>
      <p:sp>
        <p:nvSpPr>
          <p:cNvPr id="4" name="Rounded Rectangle 3"/>
          <p:cNvSpPr/>
          <p:nvPr/>
        </p:nvSpPr>
        <p:spPr>
          <a:xfrm>
            <a:off x="731520" y="4389120"/>
            <a:ext cx="3474720" cy="1005840"/>
          </a:xfrm>
          <a:prstGeom prst="roundRect">
            <a:avLst>
              <a:gd name="adj" fmla="val 8000"/>
            </a:avLst>
          </a:prstGeom>
          <a:solidFill>
            <a:srgbClr val="005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4507992"/>
            <a:ext cx="3108960" cy="822960"/>
          </a:xfrm>
          <a:prstGeom prst="rect">
            <a:avLst/>
          </a:prstGeom>
          <a:noFill/>
        </p:spPr>
        <p:txBody>
          <a:bodyPr wrap="square" lIns="0" rIns="0" tIns="0" bIns="0" anchor="t">
            <a:spAutoFit/>
          </a:bodyPr>
          <a:lstStyle/>
          <a:p>
            <a:pPr algn="l"/>
            <a:r>
              <a:rPr sz="1300" b="1" i="0">
                <a:solidFill>
                  <a:srgbClr val="E0F3E9"/>
                </a:solidFill>
                <a:latin typeface="Calibri"/>
              </a:rPr>
              <a:t>Plateforme</a:t>
            </a:r>
          </a:p>
          <a:p>
            <a:pPr algn="l"/>
            <a:r>
              <a:rPr sz="1500" b="0" i="0">
                <a:solidFill>
                  <a:srgbClr val="FFFFFF"/>
                </a:solidFill>
                <a:latin typeface="Calibri"/>
              </a:rPr>
              <a:t>alerteagri.vercel.app</a:t>
            </a:r>
          </a:p>
        </p:txBody>
      </p:sp>
      <p:sp>
        <p:nvSpPr>
          <p:cNvPr id="6" name="Rounded Rectangle 5"/>
          <p:cNvSpPr/>
          <p:nvPr/>
        </p:nvSpPr>
        <p:spPr>
          <a:xfrm>
            <a:off x="4480559" y="4389120"/>
            <a:ext cx="3474720" cy="1005840"/>
          </a:xfrm>
          <a:prstGeom prst="roundRect">
            <a:avLst>
              <a:gd name="adj" fmla="val 8000"/>
            </a:avLst>
          </a:prstGeom>
          <a:solidFill>
            <a:srgbClr val="005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09159" y="4507992"/>
            <a:ext cx="3108960" cy="822960"/>
          </a:xfrm>
          <a:prstGeom prst="rect">
            <a:avLst/>
          </a:prstGeom>
          <a:noFill/>
        </p:spPr>
        <p:txBody>
          <a:bodyPr wrap="square" lIns="0" rIns="0" tIns="0" bIns="0" anchor="t">
            <a:spAutoFit/>
          </a:bodyPr>
          <a:lstStyle/>
          <a:p>
            <a:pPr algn="l"/>
            <a:r>
              <a:rPr sz="1300" b="1" i="0">
                <a:solidFill>
                  <a:srgbClr val="E0F3E9"/>
                </a:solidFill>
                <a:latin typeface="Calibri"/>
              </a:rPr>
              <a:t>API ouverte</a:t>
            </a:r>
          </a:p>
          <a:p>
            <a:pPr algn="l"/>
            <a:r>
              <a:rPr sz="1500" b="0" i="0">
                <a:solidFill>
                  <a:srgbClr val="FFFFFF"/>
                </a:solidFill>
                <a:latin typeface="Calibri"/>
              </a:rPr>
              <a:t>alerteagri.onrender.com/docs</a:t>
            </a:r>
          </a:p>
        </p:txBody>
      </p:sp>
      <p:sp>
        <p:nvSpPr>
          <p:cNvPr id="8" name="Rounded Rectangle 7"/>
          <p:cNvSpPr/>
          <p:nvPr/>
        </p:nvSpPr>
        <p:spPr>
          <a:xfrm>
            <a:off x="8229600" y="4389120"/>
            <a:ext cx="3474720" cy="1005840"/>
          </a:xfrm>
          <a:prstGeom prst="roundRect">
            <a:avLst>
              <a:gd name="adj" fmla="val 8000"/>
            </a:avLst>
          </a:prstGeom>
          <a:solidFill>
            <a:srgbClr val="005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58200" y="4507992"/>
            <a:ext cx="3108960" cy="822960"/>
          </a:xfrm>
          <a:prstGeom prst="rect">
            <a:avLst/>
          </a:prstGeom>
          <a:noFill/>
        </p:spPr>
        <p:txBody>
          <a:bodyPr wrap="square" lIns="0" rIns="0" tIns="0" bIns="0" anchor="t">
            <a:spAutoFit/>
          </a:bodyPr>
          <a:lstStyle/>
          <a:p>
            <a:pPr algn="l"/>
            <a:r>
              <a:rPr sz="1300" b="1" i="0">
                <a:solidFill>
                  <a:srgbClr val="E0F3E9"/>
                </a:solidFill>
                <a:latin typeface="Calibri"/>
              </a:rPr>
              <a:t>Code</a:t>
            </a:r>
          </a:p>
          <a:p>
            <a:pPr algn="l"/>
            <a:r>
              <a:rPr sz="1500" b="0" i="0">
                <a:solidFill>
                  <a:srgbClr val="FFFFFF"/>
                </a:solidFill>
                <a:latin typeface="Calibri"/>
              </a:rPr>
              <a:t>github.com/misterkante/alerteagri</a:t>
            </a:r>
          </a:p>
        </p:txBody>
      </p:sp>
      <p:sp>
        <p:nvSpPr>
          <p:cNvPr id="10" name="TextBox 9"/>
          <p:cNvSpPr txBox="1"/>
          <p:nvPr/>
        </p:nvSpPr>
        <p:spPr>
          <a:xfrm>
            <a:off x="731520" y="5943600"/>
            <a:ext cx="10058400" cy="457200"/>
          </a:xfrm>
          <a:prstGeom prst="rect">
            <a:avLst/>
          </a:prstGeom>
          <a:noFill/>
        </p:spPr>
        <p:txBody>
          <a:bodyPr wrap="square" lIns="0" rIns="0" tIns="0" bIns="0" anchor="t">
            <a:spAutoFit/>
          </a:bodyPr>
          <a:lstStyle/>
          <a:p>
            <a:pPr algn="l"/>
            <a:r>
              <a:rPr sz="1600" b="0" i="0">
                <a:solidFill>
                  <a:srgbClr val="E0F3E9"/>
                </a:solidFill>
                <a:latin typeface="Calibri"/>
              </a:rPr>
              <a:t>Merci. Place aux questions et à la démonstration.</a:t>
            </a:r>
          </a:p>
        </p:txBody>
      </p:sp>
      <p:sp>
        <p:nvSpPr>
          <p:cNvPr id="11" name="Rectangle 10"/>
          <p:cNvSpPr/>
          <p:nvPr/>
        </p:nvSpPr>
        <p:spPr>
          <a:xfrm>
            <a:off x="0" y="6711696"/>
            <a:ext cx="12191695" cy="365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6748272"/>
            <a:ext cx="4073042" cy="109728"/>
          </a:xfrm>
          <a:prstGeom prst="rect">
            <a:avLst/>
          </a:prstGeom>
          <a:solidFill>
            <a:srgbClr val="0087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063898" y="6748272"/>
            <a:ext cx="4073042" cy="109728"/>
          </a:xfrm>
          <a:prstGeom prst="rect">
            <a:avLst/>
          </a:prstGeom>
          <a:solidFill>
            <a:srgbClr val="FCD1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27796" y="6748272"/>
            <a:ext cx="4073042" cy="109728"/>
          </a:xfrm>
          <a:prstGeom prst="rect">
            <a:avLst/>
          </a:prstGeom>
          <a:solidFill>
            <a:srgbClr val="E811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